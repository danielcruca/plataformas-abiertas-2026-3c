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5.svg" ContentType="image/svg+xml"/>
  <Override PartName="/ppt/media/image18.svg" ContentType="image/svg+xml"/>
  <Override PartName="/ppt/media/image2.svg" ContentType="image/svg+xml"/>
  <Override PartName="/ppt/media/image25.svg" ContentType="image/svg+xml"/>
  <Override PartName="/ppt/media/image35.svg" ContentType="image/svg+xml"/>
  <Override PartName="/ppt/media/image4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7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7" r:id="rId18"/>
    <p:sldId id="278" r:id="rId19"/>
    <p:sldId id="279" r:id="rId20"/>
    <p:sldId id="270" r:id="rId21"/>
    <p:sldId id="271" r:id="rId22"/>
    <p:sldId id="272" r:id="rId23"/>
    <p:sldId id="273" r:id="rId24"/>
    <p:sldId id="274" r:id="rId25"/>
    <p:sldId id="275" r:id="rId26"/>
  </p:sldIdLst>
  <p:sldSz cx="18288000" cy="10287000"/>
  <p:notesSz cx="6858000" cy="9144000"/>
  <p:embeddedFontLst>
    <p:embeddedFont>
      <p:font typeface="DM Sans Bold"/>
      <p:bold r:id="rId30"/>
    </p:embeddedFont>
    <p:embeddedFont>
      <p:font typeface="DM Sans"/>
      <p:regular r:id="rId31"/>
      <p:bold r:id="rId32"/>
      <p:italic r:id="rId33"/>
      <p:boldItalic r:id="rId34"/>
    </p:embeddedFont>
    <p:embeddedFont>
      <p:font typeface="Calibri" panose="020F0502020204030204" charset="0"/>
      <p:regular r:id="rId35"/>
      <p:bold r:id="rId36"/>
      <p:italic r:id="rId37"/>
      <p:boldItalic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22" autoAdjust="0"/>
  </p:normalViewPr>
  <p:slideViewPr>
    <p:cSldViewPr showGuides="1">
      <p:cViewPr varScale="1">
        <p:scale>
          <a:sx n="55" d="100"/>
          <a:sy n="55" d="100"/>
        </p:scale>
        <p:origin x="686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8" Type="http://schemas.openxmlformats.org/officeDocument/2006/relationships/font" Target="fonts/font9.fntdata"/><Relationship Id="rId37" Type="http://schemas.openxmlformats.org/officeDocument/2006/relationships/font" Target="fonts/font8.fntdata"/><Relationship Id="rId36" Type="http://schemas.openxmlformats.org/officeDocument/2006/relationships/font" Target="fonts/font7.fntdata"/><Relationship Id="rId35" Type="http://schemas.openxmlformats.org/officeDocument/2006/relationships/font" Target="fonts/font6.fntdata"/><Relationship Id="rId34" Type="http://schemas.openxmlformats.org/officeDocument/2006/relationships/font" Target="fonts/font5.fntdata"/><Relationship Id="rId33" Type="http://schemas.openxmlformats.org/officeDocument/2006/relationships/font" Target="fonts/font4.fntdata"/><Relationship Id="rId32" Type="http://schemas.openxmlformats.org/officeDocument/2006/relationships/font" Target="fonts/font3.fntdata"/><Relationship Id="rId31" Type="http://schemas.openxmlformats.org/officeDocument/2006/relationships/font" Target="fonts/font2.fntdata"/><Relationship Id="rId30" Type="http://schemas.openxmlformats.org/officeDocument/2006/relationships/font" Target="fonts/font1.fntdata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hyperlink" Target="http://api.openweathermap.org/data/2.5/weather" TargetMode="External"/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1.png"/><Relationship Id="rId2" Type="http://schemas.openxmlformats.org/officeDocument/2006/relationships/image" Target="../media/image18.svg"/><Relationship Id="rId1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5.svg"/><Relationship Id="rId3" Type="http://schemas.openxmlformats.org/officeDocument/2006/relationships/image" Target="../media/image24.png"/><Relationship Id="rId2" Type="http://schemas.openxmlformats.org/officeDocument/2006/relationships/image" Target="../media/image18.svg"/><Relationship Id="rId1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5.svg"/><Relationship Id="rId3" Type="http://schemas.openxmlformats.org/officeDocument/2006/relationships/image" Target="../media/image24.png"/><Relationship Id="rId2" Type="http://schemas.openxmlformats.org/officeDocument/2006/relationships/image" Target="../media/image18.svg"/><Relationship Id="rId1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8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1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2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5.svg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338885" y="2144714"/>
            <a:ext cx="11028558" cy="17945879"/>
          </a:xfrm>
          <a:custGeom>
            <a:avLst/>
            <a:gdLst/>
            <a:ahLst/>
            <a:cxnLst/>
            <a:rect l="l" t="t" r="r" b="b"/>
            <a:pathLst>
              <a:path w="11028558" h="17945879">
                <a:moveTo>
                  <a:pt x="11028558" y="0"/>
                </a:moveTo>
                <a:lnTo>
                  <a:pt x="0" y="0"/>
                </a:lnTo>
                <a:lnTo>
                  <a:pt x="0" y="17945878"/>
                </a:lnTo>
                <a:lnTo>
                  <a:pt x="11028558" y="17945878"/>
                </a:lnTo>
                <a:lnTo>
                  <a:pt x="11028558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467371" y="5166598"/>
            <a:ext cx="7791929" cy="1241603"/>
            <a:chOff x="0" y="0"/>
            <a:chExt cx="2204989" cy="35135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04989" cy="351353"/>
            </a:xfrm>
            <a:custGeom>
              <a:avLst/>
              <a:gdLst/>
              <a:ahLst/>
              <a:cxnLst/>
              <a:rect l="l" t="t" r="r" b="b"/>
              <a:pathLst>
                <a:path w="2204989" h="351353">
                  <a:moveTo>
                    <a:pt x="93397" y="0"/>
                  </a:moveTo>
                  <a:lnTo>
                    <a:pt x="2111592" y="0"/>
                  </a:lnTo>
                  <a:cubicBezTo>
                    <a:pt x="2163174" y="0"/>
                    <a:pt x="2204989" y="41815"/>
                    <a:pt x="2204989" y="93397"/>
                  </a:cubicBezTo>
                  <a:lnTo>
                    <a:pt x="2204989" y="257957"/>
                  </a:lnTo>
                  <a:cubicBezTo>
                    <a:pt x="2204989" y="282727"/>
                    <a:pt x="2195149" y="306483"/>
                    <a:pt x="2177634" y="323998"/>
                  </a:cubicBezTo>
                  <a:cubicBezTo>
                    <a:pt x="2160119" y="341513"/>
                    <a:pt x="2136363" y="351353"/>
                    <a:pt x="2111592" y="351353"/>
                  </a:cubicBezTo>
                  <a:lnTo>
                    <a:pt x="93397" y="351353"/>
                  </a:lnTo>
                  <a:cubicBezTo>
                    <a:pt x="68626" y="351353"/>
                    <a:pt x="44871" y="341513"/>
                    <a:pt x="27355" y="323998"/>
                  </a:cubicBezTo>
                  <a:cubicBezTo>
                    <a:pt x="9840" y="306483"/>
                    <a:pt x="0" y="282727"/>
                    <a:pt x="0" y="257957"/>
                  </a:cubicBezTo>
                  <a:lnTo>
                    <a:pt x="0" y="93397"/>
                  </a:lnTo>
                  <a:cubicBezTo>
                    <a:pt x="0" y="68626"/>
                    <a:pt x="9840" y="44871"/>
                    <a:pt x="27355" y="27355"/>
                  </a:cubicBezTo>
                  <a:cubicBezTo>
                    <a:pt x="44871" y="9840"/>
                    <a:pt x="68626" y="0"/>
                    <a:pt x="93397" y="0"/>
                  </a:cubicBezTo>
                  <a:close/>
                </a:path>
              </a:pathLst>
            </a:custGeom>
            <a:solidFill>
              <a:srgbClr val="FFB001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66675"/>
              <a:ext cx="2204989" cy="418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80"/>
                </a:lnSpc>
              </a:pPr>
              <a:r>
                <a:rPr lang="en-US" sz="3200" spc="128">
                  <a:solidFill>
                    <a:srgbClr val="FFFFFF"/>
                  </a:solidFill>
                  <a:latin typeface="DM Sans Bold"/>
                </a:rPr>
                <a:t>INTERFAZ DE PROGRAMACIÓN DE APLICACIONES</a:t>
              </a:r>
              <a:endParaRPr lang="en-US" sz="3200" spc="128">
                <a:solidFill>
                  <a:srgbClr val="FFFFFF"/>
                </a:solidFill>
                <a:latin typeface="DM Sans Bold"/>
              </a:endParaRPr>
            </a:p>
          </p:txBody>
        </p:sp>
      </p:grpSp>
      <p:sp>
        <p:nvSpPr>
          <p:cNvPr id="6" name="Freeform 6"/>
          <p:cNvSpPr/>
          <p:nvPr/>
        </p:nvSpPr>
        <p:spPr>
          <a:xfrm>
            <a:off x="1511565" y="1453243"/>
            <a:ext cx="3001017" cy="2488116"/>
          </a:xfrm>
          <a:custGeom>
            <a:avLst/>
            <a:gdLst/>
            <a:ahLst/>
            <a:cxnLst/>
            <a:rect l="l" t="t" r="r" b="b"/>
            <a:pathLst>
              <a:path w="3001017" h="2488116">
                <a:moveTo>
                  <a:pt x="0" y="0"/>
                </a:moveTo>
                <a:lnTo>
                  <a:pt x="3001017" y="0"/>
                </a:lnTo>
                <a:lnTo>
                  <a:pt x="3001017" y="2488116"/>
                </a:lnTo>
                <a:lnTo>
                  <a:pt x="0" y="24881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9467371" y="3863481"/>
            <a:ext cx="7791929" cy="1173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40"/>
              </a:lnSpc>
            </a:pPr>
            <a:r>
              <a:rPr lang="en-US" sz="9705" spc="-291">
                <a:solidFill>
                  <a:srgbClr val="000000"/>
                </a:solidFill>
                <a:latin typeface="DM Sans Bold"/>
              </a:rPr>
              <a:t>API</a:t>
            </a:r>
            <a:endParaRPr lang="en-US" sz="9705" spc="-291">
              <a:solidFill>
                <a:srgbClr val="000000"/>
              </a:solidFill>
              <a:latin typeface="DM Sans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1960853" y="981075"/>
            <a:ext cx="5298447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940"/>
              </a:lnSpc>
              <a:spcBef>
                <a:spcPct val="0"/>
              </a:spcBef>
            </a:pPr>
            <a:r>
              <a:rPr lang="en-US" sz="2100" u="none">
                <a:solidFill>
                  <a:srgbClr val="000000"/>
                </a:solidFill>
                <a:latin typeface="DM Sans"/>
              </a:rPr>
              <a:t>JANUARY 10, 2025</a:t>
            </a:r>
            <a:endParaRPr lang="en-US" sz="2100" u="none">
              <a:solidFill>
                <a:srgbClr val="000000"/>
              </a:solidFill>
              <a:latin typeface="DM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8200" y="266700"/>
            <a:ext cx="8610600" cy="9482423"/>
          </a:xfrm>
          <a:prstGeom prst="rect">
            <a:avLst/>
          </a:prstGeom>
        </p:spPr>
      </p:pic>
    </p:spTree>
  </p:cSld>
  <p:clrMapOvr>
    <a:masterClrMapping/>
  </p:clrMapOvr>
  <p:transition>
    <p:cover dir="r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815440"/>
            <a:ext cx="6449678" cy="3583154"/>
          </a:xfrm>
          <a:custGeom>
            <a:avLst/>
            <a:gdLst/>
            <a:ahLst/>
            <a:cxnLst/>
            <a:rect l="l" t="t" r="r" b="b"/>
            <a:pathLst>
              <a:path w="6449678" h="3583154">
                <a:moveTo>
                  <a:pt x="0" y="0"/>
                </a:moveTo>
                <a:lnTo>
                  <a:pt x="6449678" y="0"/>
                </a:lnTo>
                <a:lnTo>
                  <a:pt x="6449678" y="3583155"/>
                </a:lnTo>
                <a:lnTo>
                  <a:pt x="0" y="3583155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201814" y="5904573"/>
            <a:ext cx="4758223" cy="3064296"/>
          </a:xfrm>
          <a:custGeom>
            <a:avLst/>
            <a:gdLst/>
            <a:ahLst/>
            <a:cxnLst/>
            <a:rect l="l" t="t" r="r" b="b"/>
            <a:pathLst>
              <a:path w="4758223" h="3064296">
                <a:moveTo>
                  <a:pt x="0" y="0"/>
                </a:moveTo>
                <a:lnTo>
                  <a:pt x="4758223" y="0"/>
                </a:lnTo>
                <a:lnTo>
                  <a:pt x="4758223" y="3064295"/>
                </a:lnTo>
                <a:lnTo>
                  <a:pt x="0" y="30642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9792460" y="3356161"/>
            <a:ext cx="7466840" cy="279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600" lvl="1" indent="-431800" algn="l">
              <a:lnSpc>
                <a:spcPts val="5600"/>
              </a:lnSpc>
              <a:buFont typeface="Arial" panose="020B0604020202020204"/>
              <a:buChar char="•"/>
            </a:pPr>
            <a:r>
              <a:rPr lang="en-US" sz="4000">
                <a:solidFill>
                  <a:srgbClr val="000000"/>
                </a:solidFill>
                <a:latin typeface="DM Sans"/>
              </a:rPr>
              <a:t>Conjunto de reglas y definiciones que permite a dos aplicaciones comunicarse entre si.</a:t>
            </a:r>
            <a:endParaRPr lang="en-US" sz="4000">
              <a:solidFill>
                <a:srgbClr val="000000"/>
              </a:solidFill>
              <a:latin typeface="DM Sans"/>
            </a:endParaRPr>
          </a:p>
        </p:txBody>
      </p:sp>
    </p:spTree>
  </p:cSld>
  <p:clrMapOvr>
    <a:masterClrMapping/>
  </p:clrMapOvr>
  <p:transition>
    <p:cover dir="r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523381" y="623079"/>
            <a:ext cx="9040843" cy="9040843"/>
          </a:xfrm>
          <a:custGeom>
            <a:avLst/>
            <a:gdLst/>
            <a:ahLst/>
            <a:cxnLst/>
            <a:rect l="l" t="t" r="r" b="b"/>
            <a:pathLst>
              <a:path w="9040843" h="9040843">
                <a:moveTo>
                  <a:pt x="0" y="0"/>
                </a:moveTo>
                <a:lnTo>
                  <a:pt x="9040842" y="0"/>
                </a:lnTo>
                <a:lnTo>
                  <a:pt x="9040842" y="9040842"/>
                </a:lnTo>
                <a:lnTo>
                  <a:pt x="0" y="9040842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</p:spTree>
  </p:cSld>
  <p:clrMapOvr>
    <a:masterClrMapping/>
  </p:clrMapOvr>
  <p:transition>
    <p:cover dir="r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02556" y="691664"/>
            <a:ext cx="9199849" cy="7359879"/>
          </a:xfrm>
          <a:custGeom>
            <a:avLst/>
            <a:gdLst/>
            <a:ahLst/>
            <a:cxnLst/>
            <a:rect l="l" t="t" r="r" b="b"/>
            <a:pathLst>
              <a:path w="9199849" h="7359879">
                <a:moveTo>
                  <a:pt x="0" y="0"/>
                </a:moveTo>
                <a:lnTo>
                  <a:pt x="9199849" y="0"/>
                </a:lnTo>
                <a:lnTo>
                  <a:pt x="9199849" y="7359880"/>
                </a:lnTo>
                <a:lnTo>
                  <a:pt x="0" y="735988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157948" y="4100396"/>
            <a:ext cx="7412987" cy="5559740"/>
          </a:xfrm>
          <a:custGeom>
            <a:avLst/>
            <a:gdLst/>
            <a:ahLst/>
            <a:cxnLst/>
            <a:rect l="l" t="t" r="r" b="b"/>
            <a:pathLst>
              <a:path w="7412987" h="5559740">
                <a:moveTo>
                  <a:pt x="0" y="0"/>
                </a:moveTo>
                <a:lnTo>
                  <a:pt x="7412987" y="0"/>
                </a:lnTo>
                <a:lnTo>
                  <a:pt x="7412987" y="5559740"/>
                </a:lnTo>
                <a:lnTo>
                  <a:pt x="0" y="55597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50790" y="1897693"/>
            <a:ext cx="7446042" cy="1326542"/>
            <a:chOff x="0" y="0"/>
            <a:chExt cx="1556551" cy="2773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56551" cy="277306"/>
            </a:xfrm>
            <a:custGeom>
              <a:avLst/>
              <a:gdLst/>
              <a:ahLst/>
              <a:cxnLst/>
              <a:rect l="l" t="t" r="r" b="b"/>
              <a:pathLst>
                <a:path w="1556551" h="277306">
                  <a:moveTo>
                    <a:pt x="97735" y="0"/>
                  </a:moveTo>
                  <a:lnTo>
                    <a:pt x="1458816" y="0"/>
                  </a:lnTo>
                  <a:cubicBezTo>
                    <a:pt x="1512794" y="0"/>
                    <a:pt x="1556551" y="43758"/>
                    <a:pt x="1556551" y="97735"/>
                  </a:cubicBezTo>
                  <a:lnTo>
                    <a:pt x="1556551" y="179571"/>
                  </a:lnTo>
                  <a:cubicBezTo>
                    <a:pt x="1556551" y="205492"/>
                    <a:pt x="1546254" y="230351"/>
                    <a:pt x="1527925" y="248680"/>
                  </a:cubicBezTo>
                  <a:cubicBezTo>
                    <a:pt x="1509596" y="267009"/>
                    <a:pt x="1484737" y="277306"/>
                    <a:pt x="1458816" y="277306"/>
                  </a:cubicBezTo>
                  <a:lnTo>
                    <a:pt x="97735" y="277306"/>
                  </a:lnTo>
                  <a:cubicBezTo>
                    <a:pt x="71814" y="277306"/>
                    <a:pt x="46955" y="267009"/>
                    <a:pt x="28626" y="248680"/>
                  </a:cubicBezTo>
                  <a:cubicBezTo>
                    <a:pt x="10297" y="230351"/>
                    <a:pt x="0" y="205492"/>
                    <a:pt x="0" y="179571"/>
                  </a:cubicBezTo>
                  <a:lnTo>
                    <a:pt x="0" y="97735"/>
                  </a:lnTo>
                  <a:cubicBezTo>
                    <a:pt x="0" y="71814"/>
                    <a:pt x="10297" y="46955"/>
                    <a:pt x="28626" y="28626"/>
                  </a:cubicBezTo>
                  <a:cubicBezTo>
                    <a:pt x="46955" y="10297"/>
                    <a:pt x="71814" y="0"/>
                    <a:pt x="97735" y="0"/>
                  </a:cubicBezTo>
                  <a:close/>
                </a:path>
              </a:pathLst>
            </a:custGeom>
            <a:solidFill>
              <a:srgbClr val="3AB85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1556551" cy="401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8960"/>
                </a:lnSpc>
              </a:pPr>
              <a:r>
                <a:rPr lang="en-US" sz="6400">
                  <a:solidFill>
                    <a:srgbClr val="FFFFFF"/>
                  </a:solidFill>
                  <a:latin typeface="DM Sans Bold"/>
                </a:rPr>
                <a:t>Analogia</a:t>
              </a:r>
              <a:endParaRPr lang="en-US" sz="6400">
                <a:solidFill>
                  <a:srgbClr val="FFFFFF"/>
                </a:solidFill>
                <a:latin typeface="DM Sans Bold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1379675"/>
            <a:ext cx="5449828" cy="7707614"/>
          </a:xfrm>
          <a:custGeom>
            <a:avLst/>
            <a:gdLst/>
            <a:ahLst/>
            <a:cxnLst/>
            <a:rect l="l" t="t" r="r" b="b"/>
            <a:pathLst>
              <a:path w="5449828" h="7707614">
                <a:moveTo>
                  <a:pt x="0" y="0"/>
                </a:moveTo>
                <a:lnTo>
                  <a:pt x="5449828" y="0"/>
                </a:lnTo>
                <a:lnTo>
                  <a:pt x="5449828" y="7707614"/>
                </a:lnTo>
                <a:lnTo>
                  <a:pt x="0" y="770761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8488321" y="3714256"/>
            <a:ext cx="8966770" cy="5873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6120" lvl="1" indent="-353060" algn="l">
              <a:lnSpc>
                <a:spcPts val="4580"/>
              </a:lnSpc>
              <a:buFont typeface="Arial" panose="020B0604020202020204"/>
              <a:buChar char="•"/>
            </a:pPr>
            <a:r>
              <a:rPr lang="en-US" altLang="en-GB" sz="3270">
                <a:solidFill>
                  <a:srgbClr val="000000"/>
                </a:solidFill>
                <a:latin typeface="DM Sans Bold"/>
              </a:rPr>
              <a:t>El </a:t>
            </a:r>
            <a:r>
              <a:rPr lang="en-US" altLang="en-GB" sz="3270" u="sng">
                <a:solidFill>
                  <a:srgbClr val="000000"/>
                </a:solidFill>
                <a:latin typeface="DM Sans Bold"/>
              </a:rPr>
              <a:t>men</a:t>
            </a:r>
            <a:r>
              <a:rPr lang="en-US" altLang="en-US" sz="3270" u="sng">
                <a:solidFill>
                  <a:srgbClr val="000000"/>
                </a:solidFill>
                <a:latin typeface="DM Sans Bold"/>
              </a:rPr>
              <a:t>ú</a:t>
            </a:r>
            <a:r>
              <a:rPr lang="en-US" altLang="en-GB" sz="3270" u="sng">
                <a:solidFill>
                  <a:srgbClr val="000000"/>
                </a:solidFill>
                <a:latin typeface="DM Sans Bold"/>
              </a:rPr>
              <a:t> (API)</a:t>
            </a:r>
            <a:r>
              <a:rPr lang="en-US" altLang="en-GB" sz="3270">
                <a:solidFill>
                  <a:srgbClr val="000000"/>
                </a:solidFill>
                <a:latin typeface="DM Sans Bold"/>
              </a:rPr>
              <a:t> proporciona una lista de platos que puedes pedir y la descripci</a:t>
            </a:r>
            <a:r>
              <a:rPr lang="en-US" altLang="en-US" sz="3270">
                <a:solidFill>
                  <a:srgbClr val="000000"/>
                </a:solidFill>
                <a:latin typeface="DM Sans Bold"/>
              </a:rPr>
              <a:t>ó</a:t>
            </a:r>
            <a:r>
              <a:rPr lang="en-US" altLang="en-GB" sz="3270">
                <a:solidFill>
                  <a:srgbClr val="000000"/>
                </a:solidFill>
                <a:latin typeface="DM Sans Bold"/>
              </a:rPr>
              <a:t>n de cada uno.</a:t>
            </a:r>
            <a:endParaRPr lang="en-US" altLang="en-GB" sz="3270">
              <a:solidFill>
                <a:srgbClr val="000000"/>
              </a:solidFill>
              <a:latin typeface="DM Sans Bold"/>
            </a:endParaRPr>
          </a:p>
          <a:p>
            <a:pPr marL="706120" lvl="1" indent="-353060" algn="l">
              <a:lnSpc>
                <a:spcPts val="4580"/>
              </a:lnSpc>
              <a:buFont typeface="Arial" panose="020B0604020202020204"/>
              <a:buChar char="•"/>
            </a:pPr>
            <a:r>
              <a:rPr lang="en-US" altLang="en-GB" sz="3270">
                <a:solidFill>
                  <a:srgbClr val="000000"/>
                </a:solidFill>
                <a:latin typeface="DM Sans Bold"/>
              </a:rPr>
              <a:t>La </a:t>
            </a:r>
            <a:r>
              <a:rPr lang="en-US" altLang="en-GB" sz="3270" u="sng">
                <a:solidFill>
                  <a:srgbClr val="000000"/>
                </a:solidFill>
                <a:latin typeface="DM Sans Bold"/>
              </a:rPr>
              <a:t>cocina </a:t>
            </a:r>
            <a:r>
              <a:rPr lang="en-US" altLang="en-GB" sz="3270">
                <a:solidFill>
                  <a:srgbClr val="000000"/>
                </a:solidFill>
                <a:latin typeface="DM Sans Bold"/>
              </a:rPr>
              <a:t>(servidor) recibe la orden, prepara el plato (los datos) y lo entrega.</a:t>
            </a:r>
            <a:endParaRPr lang="en-US" altLang="en-GB" sz="3270">
              <a:solidFill>
                <a:srgbClr val="000000"/>
              </a:solidFill>
              <a:latin typeface="DM Sans Bold"/>
            </a:endParaRPr>
          </a:p>
          <a:p>
            <a:pPr marL="706120" lvl="1" indent="-353060" algn="l">
              <a:lnSpc>
                <a:spcPts val="4580"/>
              </a:lnSpc>
              <a:buFont typeface="Arial" panose="020B0604020202020204"/>
              <a:buChar char="•"/>
            </a:pPr>
            <a:r>
              <a:rPr lang="en-US" altLang="en-GB" sz="3270">
                <a:solidFill>
                  <a:srgbClr val="000000"/>
                </a:solidFill>
                <a:latin typeface="DM Sans Bold"/>
              </a:rPr>
              <a:t>El </a:t>
            </a:r>
            <a:r>
              <a:rPr lang="en-US" altLang="en-GB" sz="3270" u="sng">
                <a:solidFill>
                  <a:srgbClr val="000000"/>
                </a:solidFill>
                <a:latin typeface="DM Sans Bold"/>
              </a:rPr>
              <a:t>protocolo HTTP </a:t>
            </a:r>
            <a:r>
              <a:rPr lang="en-US" altLang="en-GB" sz="3270">
                <a:solidFill>
                  <a:srgbClr val="000000"/>
                </a:solidFill>
                <a:latin typeface="DM Sans Bold"/>
              </a:rPr>
              <a:t>es el medio o las reglas mediante las cuales el cliente, el mesero y la cocina se comunican para procesar la orden.</a:t>
            </a:r>
            <a:endParaRPr lang="en-US" altLang="en-GB" sz="3270">
              <a:solidFill>
                <a:srgbClr val="000000"/>
              </a:solidFill>
              <a:latin typeface="DM Sans Bold"/>
            </a:endParaRPr>
          </a:p>
          <a:p>
            <a:pPr marL="706120" lvl="1" indent="-353060" algn="l">
              <a:lnSpc>
                <a:spcPts val="4580"/>
              </a:lnSpc>
              <a:buFont typeface="Arial" panose="020B0604020202020204"/>
              <a:buChar char="•"/>
            </a:pPr>
            <a:r>
              <a:rPr lang="en-US" altLang="en-GB" sz="3270" u="sng">
                <a:solidFill>
                  <a:srgbClr val="000000"/>
                </a:solidFill>
                <a:latin typeface="DM Sans Bold"/>
              </a:rPr>
              <a:t>El cliente </a:t>
            </a:r>
            <a:r>
              <a:rPr lang="en-US" altLang="en-GB" sz="3270">
                <a:solidFill>
                  <a:srgbClr val="000000"/>
                </a:solidFill>
                <a:latin typeface="DM Sans Bold"/>
              </a:rPr>
              <a:t>es quien realiza el pedido.</a:t>
            </a:r>
            <a:endParaRPr lang="en-US" altLang="en-GB" sz="3270">
              <a:solidFill>
                <a:srgbClr val="000000"/>
              </a:solidFill>
              <a:latin typeface="DM Sans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69466" y="1379675"/>
            <a:ext cx="8989834" cy="1326542"/>
            <a:chOff x="0" y="0"/>
            <a:chExt cx="1879272" cy="2773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79272" cy="277306"/>
            </a:xfrm>
            <a:custGeom>
              <a:avLst/>
              <a:gdLst/>
              <a:ahLst/>
              <a:cxnLst/>
              <a:rect l="l" t="t" r="r" b="b"/>
              <a:pathLst>
                <a:path w="1879272" h="277306">
                  <a:moveTo>
                    <a:pt x="80951" y="0"/>
                  </a:moveTo>
                  <a:lnTo>
                    <a:pt x="1798320" y="0"/>
                  </a:lnTo>
                  <a:cubicBezTo>
                    <a:pt x="1843029" y="0"/>
                    <a:pt x="1879272" y="36243"/>
                    <a:pt x="1879272" y="80951"/>
                  </a:cubicBezTo>
                  <a:lnTo>
                    <a:pt x="1879272" y="196354"/>
                  </a:lnTo>
                  <a:cubicBezTo>
                    <a:pt x="1879272" y="241063"/>
                    <a:pt x="1843029" y="277306"/>
                    <a:pt x="1798320" y="277306"/>
                  </a:cubicBezTo>
                  <a:lnTo>
                    <a:pt x="80951" y="277306"/>
                  </a:lnTo>
                  <a:cubicBezTo>
                    <a:pt x="36243" y="277306"/>
                    <a:pt x="0" y="241063"/>
                    <a:pt x="0" y="196354"/>
                  </a:cubicBezTo>
                  <a:lnTo>
                    <a:pt x="0" y="80951"/>
                  </a:lnTo>
                  <a:cubicBezTo>
                    <a:pt x="0" y="36243"/>
                    <a:pt x="36243" y="0"/>
                    <a:pt x="80951" y="0"/>
                  </a:cubicBezTo>
                  <a:close/>
                </a:path>
              </a:pathLst>
            </a:custGeom>
            <a:solidFill>
              <a:srgbClr val="3AB85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1879272" cy="401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8960"/>
                </a:lnSpc>
              </a:pPr>
              <a:r>
                <a:rPr lang="en-US" sz="6400">
                  <a:solidFill>
                    <a:srgbClr val="FFFFFF"/>
                  </a:solidFill>
                  <a:latin typeface="DM Sans Bold"/>
                </a:rPr>
                <a:t>Ejemplos cotiadianos</a:t>
              </a:r>
              <a:endParaRPr lang="en-US" sz="6400">
                <a:solidFill>
                  <a:srgbClr val="FFFFFF"/>
                </a:solidFill>
                <a:latin typeface="DM Sans Bold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488966" y="2706665"/>
            <a:ext cx="7315077" cy="4873670"/>
          </a:xfrm>
          <a:custGeom>
            <a:avLst/>
            <a:gdLst/>
            <a:ahLst/>
            <a:cxnLst/>
            <a:rect l="l" t="t" r="r" b="b"/>
            <a:pathLst>
              <a:path w="7315077" h="4873670">
                <a:moveTo>
                  <a:pt x="0" y="0"/>
                </a:moveTo>
                <a:lnTo>
                  <a:pt x="7315077" y="0"/>
                </a:lnTo>
                <a:lnTo>
                  <a:pt x="7315077" y="4873670"/>
                </a:lnTo>
                <a:lnTo>
                  <a:pt x="0" y="487367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8488321" y="3714256"/>
            <a:ext cx="8966770" cy="3995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6120" lvl="1" indent="-353060" algn="l">
              <a:lnSpc>
                <a:spcPts val="4580"/>
              </a:lnSpc>
              <a:buFont typeface="Arial" panose="020B0604020202020204"/>
              <a:buChar char="•"/>
            </a:pPr>
            <a:r>
              <a:rPr lang="en-US" sz="3270">
                <a:solidFill>
                  <a:srgbClr val="000000"/>
                </a:solidFill>
                <a:latin typeface="DM Sans Bold"/>
              </a:rPr>
              <a:t>Las aplicaciones del telefono se comunican con algun servidor por medio de apis. Aplicaciones bancarias, redes sociales etc.</a:t>
            </a:r>
            <a:endParaRPr lang="en-US" sz="3270">
              <a:solidFill>
                <a:srgbClr val="000000"/>
              </a:solidFill>
              <a:latin typeface="DM Sans Bold"/>
            </a:endParaRPr>
          </a:p>
          <a:p>
            <a:pPr marL="706120" lvl="1" indent="-353060" algn="l">
              <a:lnSpc>
                <a:spcPts val="4580"/>
              </a:lnSpc>
              <a:buFont typeface="Arial" panose="020B0604020202020204"/>
              <a:buChar char="•"/>
            </a:pPr>
            <a:r>
              <a:rPr lang="en-US" sz="3270">
                <a:solidFill>
                  <a:srgbClr val="000000"/>
                </a:solidFill>
                <a:latin typeface="DM Sans Bold"/>
              </a:rPr>
              <a:t>Cuando subimos una historia instagram etc.</a:t>
            </a:r>
            <a:endParaRPr lang="en-US" sz="3270">
              <a:solidFill>
                <a:srgbClr val="000000"/>
              </a:solidFill>
              <a:latin typeface="DM Sans Bold"/>
            </a:endParaRPr>
          </a:p>
          <a:p>
            <a:pPr algn="l">
              <a:lnSpc>
                <a:spcPts val="4580"/>
              </a:lnSpc>
            </a:pPr>
            <a:endParaRPr lang="en-US" sz="3270">
              <a:solidFill>
                <a:srgbClr val="000000"/>
              </a:solidFill>
              <a:latin typeface="DM Sans Bold"/>
            </a:endParaRPr>
          </a:p>
        </p:txBody>
      </p:sp>
    </p:spTree>
  </p:cSld>
  <p:clrMapOvr>
    <a:masterClrMapping/>
  </p:clrMapOvr>
  <p:transition>
    <p:cover dir="r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918857" y="662447"/>
            <a:ext cx="7446042" cy="1326542"/>
            <a:chOff x="0" y="0"/>
            <a:chExt cx="1556551" cy="2773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56551" cy="277306"/>
            </a:xfrm>
            <a:custGeom>
              <a:avLst/>
              <a:gdLst/>
              <a:ahLst/>
              <a:cxnLst/>
              <a:rect l="l" t="t" r="r" b="b"/>
              <a:pathLst>
                <a:path w="1556551" h="277306">
                  <a:moveTo>
                    <a:pt x="97735" y="0"/>
                  </a:moveTo>
                  <a:lnTo>
                    <a:pt x="1458816" y="0"/>
                  </a:lnTo>
                  <a:cubicBezTo>
                    <a:pt x="1512794" y="0"/>
                    <a:pt x="1556551" y="43758"/>
                    <a:pt x="1556551" y="97735"/>
                  </a:cubicBezTo>
                  <a:lnTo>
                    <a:pt x="1556551" y="179571"/>
                  </a:lnTo>
                  <a:cubicBezTo>
                    <a:pt x="1556551" y="205492"/>
                    <a:pt x="1546254" y="230351"/>
                    <a:pt x="1527925" y="248680"/>
                  </a:cubicBezTo>
                  <a:cubicBezTo>
                    <a:pt x="1509596" y="267009"/>
                    <a:pt x="1484737" y="277306"/>
                    <a:pt x="1458816" y="277306"/>
                  </a:cubicBezTo>
                  <a:lnTo>
                    <a:pt x="97735" y="277306"/>
                  </a:lnTo>
                  <a:cubicBezTo>
                    <a:pt x="71814" y="277306"/>
                    <a:pt x="46955" y="267009"/>
                    <a:pt x="28626" y="248680"/>
                  </a:cubicBezTo>
                  <a:cubicBezTo>
                    <a:pt x="10297" y="230351"/>
                    <a:pt x="0" y="205492"/>
                    <a:pt x="0" y="179571"/>
                  </a:cubicBezTo>
                  <a:lnTo>
                    <a:pt x="0" y="97735"/>
                  </a:lnTo>
                  <a:cubicBezTo>
                    <a:pt x="0" y="71814"/>
                    <a:pt x="10297" y="46955"/>
                    <a:pt x="28626" y="28626"/>
                  </a:cubicBezTo>
                  <a:cubicBezTo>
                    <a:pt x="46955" y="10297"/>
                    <a:pt x="71814" y="0"/>
                    <a:pt x="97735" y="0"/>
                  </a:cubicBezTo>
                  <a:close/>
                </a:path>
              </a:pathLst>
            </a:custGeom>
            <a:solidFill>
              <a:srgbClr val="3AB85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1556551" cy="401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8960"/>
                </a:lnSpc>
              </a:pPr>
              <a:r>
                <a:rPr lang="en-US" sz="6400">
                  <a:solidFill>
                    <a:srgbClr val="FFFFFF"/>
                  </a:solidFill>
                  <a:latin typeface="DM Sans"/>
                </a:rPr>
                <a:t>API           MVC </a:t>
              </a:r>
              <a:endParaRPr lang="en-US" sz="6400">
                <a:solidFill>
                  <a:srgbClr val="FFFFFF"/>
                </a:solidFill>
                <a:latin typeface="DM Sans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1854617" y="2353732"/>
            <a:ext cx="13671760" cy="7040810"/>
          </a:xfrm>
          <a:custGeom>
            <a:avLst/>
            <a:gdLst/>
            <a:ahLst/>
            <a:cxnLst/>
            <a:rect l="l" t="t" r="r" b="b"/>
            <a:pathLst>
              <a:path w="13671760" h="7040810">
                <a:moveTo>
                  <a:pt x="0" y="0"/>
                </a:moveTo>
                <a:lnTo>
                  <a:pt x="13671760" y="0"/>
                </a:lnTo>
                <a:lnTo>
                  <a:pt x="13671760" y="7040811"/>
                </a:lnTo>
                <a:lnTo>
                  <a:pt x="0" y="7040811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068789" y="606252"/>
            <a:ext cx="2408254" cy="1438932"/>
          </a:xfrm>
          <a:custGeom>
            <a:avLst/>
            <a:gdLst/>
            <a:ahLst/>
            <a:cxnLst/>
            <a:rect l="l" t="t" r="r" b="b"/>
            <a:pathLst>
              <a:path w="2408254" h="1438932">
                <a:moveTo>
                  <a:pt x="0" y="0"/>
                </a:moveTo>
                <a:lnTo>
                  <a:pt x="2408254" y="0"/>
                </a:lnTo>
                <a:lnTo>
                  <a:pt x="2408254" y="1438932"/>
                </a:lnTo>
                <a:lnTo>
                  <a:pt x="0" y="14389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>
    <p:cover dir="r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467371" y="5166598"/>
            <a:ext cx="7791929" cy="953681"/>
            <a:chOff x="0" y="0"/>
            <a:chExt cx="2204989" cy="2698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04989" cy="269876"/>
            </a:xfrm>
            <a:custGeom>
              <a:avLst/>
              <a:gdLst/>
              <a:ahLst/>
              <a:cxnLst/>
              <a:rect l="l" t="t" r="r" b="b"/>
              <a:pathLst>
                <a:path w="2204989" h="269876">
                  <a:moveTo>
                    <a:pt x="93397" y="0"/>
                  </a:moveTo>
                  <a:lnTo>
                    <a:pt x="2111592" y="0"/>
                  </a:lnTo>
                  <a:cubicBezTo>
                    <a:pt x="2163174" y="0"/>
                    <a:pt x="2204989" y="41815"/>
                    <a:pt x="2204989" y="93397"/>
                  </a:cubicBezTo>
                  <a:lnTo>
                    <a:pt x="2204989" y="176479"/>
                  </a:lnTo>
                  <a:cubicBezTo>
                    <a:pt x="2204989" y="201250"/>
                    <a:pt x="2195149" y="225006"/>
                    <a:pt x="2177634" y="242521"/>
                  </a:cubicBezTo>
                  <a:cubicBezTo>
                    <a:pt x="2160119" y="260036"/>
                    <a:pt x="2136363" y="269876"/>
                    <a:pt x="2111592" y="269876"/>
                  </a:cubicBezTo>
                  <a:lnTo>
                    <a:pt x="93397" y="269876"/>
                  </a:lnTo>
                  <a:cubicBezTo>
                    <a:pt x="68626" y="269876"/>
                    <a:pt x="44871" y="260036"/>
                    <a:pt x="27355" y="242521"/>
                  </a:cubicBezTo>
                  <a:cubicBezTo>
                    <a:pt x="9840" y="225006"/>
                    <a:pt x="0" y="201250"/>
                    <a:pt x="0" y="176479"/>
                  </a:cubicBezTo>
                  <a:lnTo>
                    <a:pt x="0" y="93397"/>
                  </a:lnTo>
                  <a:cubicBezTo>
                    <a:pt x="0" y="68626"/>
                    <a:pt x="9840" y="44871"/>
                    <a:pt x="27355" y="27355"/>
                  </a:cubicBezTo>
                  <a:cubicBezTo>
                    <a:pt x="44871" y="9840"/>
                    <a:pt x="68626" y="0"/>
                    <a:pt x="93397" y="0"/>
                  </a:cubicBezTo>
                  <a:close/>
                </a:path>
              </a:pathLst>
            </a:custGeom>
            <a:solidFill>
              <a:srgbClr val="FFB001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2204989" cy="3365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80"/>
                </a:lnSpc>
              </a:pPr>
              <a:r>
                <a:rPr lang="en-US" sz="3200" spc="128">
                  <a:solidFill>
                    <a:srgbClr val="FFFFFF"/>
                  </a:solidFill>
                  <a:latin typeface="DM Sans Bold"/>
                </a:rPr>
                <a:t>APIS PUBLICAS Y PRIVADAS</a:t>
              </a:r>
              <a:endParaRPr lang="en-US" sz="3200" spc="128">
                <a:solidFill>
                  <a:srgbClr val="FFFFFF"/>
                </a:solidFill>
                <a:latin typeface="DM Sans Bold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3290804"/>
            <a:ext cx="7107657" cy="4705269"/>
          </a:xfrm>
          <a:custGeom>
            <a:avLst/>
            <a:gdLst/>
            <a:ahLst/>
            <a:cxnLst/>
            <a:rect l="l" t="t" r="r" b="b"/>
            <a:pathLst>
              <a:path w="7107657" h="4705269">
                <a:moveTo>
                  <a:pt x="0" y="0"/>
                </a:moveTo>
                <a:lnTo>
                  <a:pt x="7107657" y="0"/>
                </a:lnTo>
                <a:lnTo>
                  <a:pt x="7107657" y="4705268"/>
                </a:lnTo>
                <a:lnTo>
                  <a:pt x="0" y="4705268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144000" y="3863481"/>
            <a:ext cx="8860708" cy="1173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40"/>
              </a:lnSpc>
            </a:pPr>
            <a:r>
              <a:rPr lang="en-US" sz="9705" spc="-291">
                <a:solidFill>
                  <a:srgbClr val="000000"/>
                </a:solidFill>
                <a:latin typeface="DM Sans Bold"/>
              </a:rPr>
              <a:t>TIPOS DE APIS</a:t>
            </a:r>
            <a:endParaRPr lang="en-US" sz="9705" spc="-291">
              <a:solidFill>
                <a:srgbClr val="000000"/>
              </a:solidFill>
              <a:latin typeface="DM Sans 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705151" y="2460160"/>
            <a:ext cx="7028068" cy="7066613"/>
          </a:xfrm>
          <a:custGeom>
            <a:avLst/>
            <a:gdLst/>
            <a:ahLst/>
            <a:cxnLst/>
            <a:rect l="l" t="t" r="r" b="b"/>
            <a:pathLst>
              <a:path w="7028068" h="7066613">
                <a:moveTo>
                  <a:pt x="7028067" y="0"/>
                </a:moveTo>
                <a:lnTo>
                  <a:pt x="0" y="0"/>
                </a:lnTo>
                <a:lnTo>
                  <a:pt x="0" y="7066613"/>
                </a:lnTo>
                <a:lnTo>
                  <a:pt x="7028067" y="7066613"/>
                </a:lnTo>
                <a:lnTo>
                  <a:pt x="7028067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150790" y="1897693"/>
            <a:ext cx="7446042" cy="1326542"/>
            <a:chOff x="0" y="0"/>
            <a:chExt cx="1556551" cy="27730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56551" cy="277306"/>
            </a:xfrm>
            <a:custGeom>
              <a:avLst/>
              <a:gdLst/>
              <a:ahLst/>
              <a:cxnLst/>
              <a:rect l="l" t="t" r="r" b="b"/>
              <a:pathLst>
                <a:path w="1556551" h="277306">
                  <a:moveTo>
                    <a:pt x="97735" y="0"/>
                  </a:moveTo>
                  <a:lnTo>
                    <a:pt x="1458816" y="0"/>
                  </a:lnTo>
                  <a:cubicBezTo>
                    <a:pt x="1512794" y="0"/>
                    <a:pt x="1556551" y="43758"/>
                    <a:pt x="1556551" y="97735"/>
                  </a:cubicBezTo>
                  <a:lnTo>
                    <a:pt x="1556551" y="179571"/>
                  </a:lnTo>
                  <a:cubicBezTo>
                    <a:pt x="1556551" y="205492"/>
                    <a:pt x="1546254" y="230351"/>
                    <a:pt x="1527925" y="248680"/>
                  </a:cubicBezTo>
                  <a:cubicBezTo>
                    <a:pt x="1509596" y="267009"/>
                    <a:pt x="1484737" y="277306"/>
                    <a:pt x="1458816" y="277306"/>
                  </a:cubicBezTo>
                  <a:lnTo>
                    <a:pt x="97735" y="277306"/>
                  </a:lnTo>
                  <a:cubicBezTo>
                    <a:pt x="71814" y="277306"/>
                    <a:pt x="46955" y="267009"/>
                    <a:pt x="28626" y="248680"/>
                  </a:cubicBezTo>
                  <a:cubicBezTo>
                    <a:pt x="10297" y="230351"/>
                    <a:pt x="0" y="205492"/>
                    <a:pt x="0" y="179571"/>
                  </a:cubicBezTo>
                  <a:lnTo>
                    <a:pt x="0" y="97735"/>
                  </a:lnTo>
                  <a:cubicBezTo>
                    <a:pt x="0" y="71814"/>
                    <a:pt x="10297" y="46955"/>
                    <a:pt x="28626" y="28626"/>
                  </a:cubicBezTo>
                  <a:cubicBezTo>
                    <a:pt x="46955" y="10297"/>
                    <a:pt x="71814" y="0"/>
                    <a:pt x="97735" y="0"/>
                  </a:cubicBezTo>
                  <a:close/>
                </a:path>
              </a:pathLst>
            </a:custGeom>
            <a:solidFill>
              <a:srgbClr val="3AB85C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123825"/>
              <a:ext cx="1556551" cy="401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8960"/>
                </a:lnSpc>
              </a:pPr>
              <a:r>
                <a:rPr lang="en-US" sz="6400">
                  <a:solidFill>
                    <a:srgbClr val="FFFFFF"/>
                  </a:solidFill>
                  <a:latin typeface="DM Sans Bold"/>
                </a:rPr>
                <a:t>Públicas</a:t>
              </a:r>
              <a:endParaRPr lang="en-US" sz="6400">
                <a:solidFill>
                  <a:srgbClr val="FFFFFF"/>
                </a:solidFill>
                <a:latin typeface="DM Sans Bold"/>
              </a:endParaRPr>
            </a:p>
          </p:txBody>
        </p:sp>
      </p:grpSp>
      <p:sp>
        <p:nvSpPr>
          <p:cNvPr id="6" name="Freeform 6"/>
          <p:cNvSpPr/>
          <p:nvPr/>
        </p:nvSpPr>
        <p:spPr>
          <a:xfrm>
            <a:off x="1712072" y="635588"/>
            <a:ext cx="4682074" cy="1720662"/>
          </a:xfrm>
          <a:custGeom>
            <a:avLst/>
            <a:gdLst/>
            <a:ahLst/>
            <a:cxnLst/>
            <a:rect l="l" t="t" r="r" b="b"/>
            <a:pathLst>
              <a:path w="4682074" h="1720662">
                <a:moveTo>
                  <a:pt x="0" y="0"/>
                </a:moveTo>
                <a:lnTo>
                  <a:pt x="4682074" y="0"/>
                </a:lnTo>
                <a:lnTo>
                  <a:pt x="4682074" y="1720663"/>
                </a:lnTo>
                <a:lnTo>
                  <a:pt x="0" y="17206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8488321" y="3704731"/>
            <a:ext cx="8770979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u="sng">
                <a:solidFill>
                  <a:srgbClr val="000000"/>
                </a:solidFill>
                <a:latin typeface="DM Sans"/>
                <a:hlinkClick r:id="rId4" tooltip="http://api.openweathermap.org/data/2.5/weather"/>
              </a:rPr>
              <a:t>Son APIs disponibles para todos.</a:t>
            </a:r>
            <a:endParaRPr lang="en-US" sz="3200" u="sng">
              <a:solidFill>
                <a:srgbClr val="000000"/>
              </a:solidFill>
              <a:latin typeface="DM Sans"/>
              <a:hlinkClick r:id="rId4" tooltip="http://api.openweathermap.org/data/2.5/weather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488321" y="4596130"/>
            <a:ext cx="8770979" cy="3357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DM Sans Bold"/>
              </a:rPr>
              <a:t>Ejemplos:</a:t>
            </a:r>
            <a:endParaRPr lang="en-US" sz="3200">
              <a:solidFill>
                <a:srgbClr val="000000"/>
              </a:solidFill>
              <a:latin typeface="DM Sans Bold"/>
            </a:endParaRPr>
          </a:p>
          <a:p>
            <a:pPr algn="l">
              <a:lnSpc>
                <a:spcPts val="4480"/>
              </a:lnSpc>
            </a:pPr>
            <a:endParaRPr lang="en-US" sz="3200">
              <a:solidFill>
                <a:srgbClr val="000000"/>
              </a:solidFill>
              <a:latin typeface="DM Sans Bold"/>
            </a:endParaRPr>
          </a:p>
          <a:p>
            <a:pPr marL="690880" lvl="1" indent="-34544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3200">
                <a:solidFill>
                  <a:srgbClr val="000000"/>
                </a:solidFill>
                <a:latin typeface="DM Sans Bold"/>
              </a:rPr>
              <a:t>PokéAPI: </a:t>
            </a:r>
            <a:r>
              <a:rPr lang="en-US" sz="3200">
                <a:solidFill>
                  <a:srgbClr val="000000"/>
                </a:solidFill>
                <a:latin typeface="DM Sans"/>
              </a:rPr>
              <a:t>Proporciona datos sobre Pokémon, como habilidades, tipos, estadísticas, etc.</a:t>
            </a:r>
            <a:endParaRPr lang="en-US" sz="3200">
              <a:solidFill>
                <a:srgbClr val="000000"/>
              </a:solidFill>
              <a:latin typeface="DM Sans"/>
            </a:endParaRPr>
          </a:p>
          <a:p>
            <a:pPr marL="1381760" lvl="2" indent="-460375" algn="l">
              <a:lnSpc>
                <a:spcPts val="4480"/>
              </a:lnSpc>
              <a:buFont typeface="Arial" panose="020B0604020202020204"/>
              <a:buChar char="⚬"/>
            </a:pPr>
            <a:r>
              <a:rPr lang="en-US" sz="3200">
                <a:solidFill>
                  <a:srgbClr val="000000"/>
                </a:solidFill>
                <a:latin typeface="DM Sans Bold"/>
              </a:rPr>
              <a:t>https://pokeapi.co/api/v2/</a:t>
            </a:r>
            <a:endParaRPr lang="en-US" sz="3200">
              <a:solidFill>
                <a:srgbClr val="000000"/>
              </a:solidFill>
              <a:latin typeface="DM Sans Bold"/>
            </a:endParaRPr>
          </a:p>
        </p:txBody>
      </p:sp>
    </p:spTree>
  </p:cSld>
  <p:clrMapOvr>
    <a:masterClrMapping/>
  </p:clrMapOvr>
  <p:transition>
    <p:cover dir="r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705151" y="2460160"/>
            <a:ext cx="7028068" cy="7066613"/>
          </a:xfrm>
          <a:custGeom>
            <a:avLst/>
            <a:gdLst/>
            <a:ahLst/>
            <a:cxnLst/>
            <a:rect l="l" t="t" r="r" b="b"/>
            <a:pathLst>
              <a:path w="7028068" h="7066613">
                <a:moveTo>
                  <a:pt x="7028067" y="0"/>
                </a:moveTo>
                <a:lnTo>
                  <a:pt x="0" y="0"/>
                </a:lnTo>
                <a:lnTo>
                  <a:pt x="0" y="7066613"/>
                </a:lnTo>
                <a:lnTo>
                  <a:pt x="7028067" y="7066613"/>
                </a:lnTo>
                <a:lnTo>
                  <a:pt x="7028067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150790" y="1897693"/>
            <a:ext cx="7446042" cy="1326542"/>
            <a:chOff x="0" y="0"/>
            <a:chExt cx="1556551" cy="27730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56551" cy="277306"/>
            </a:xfrm>
            <a:custGeom>
              <a:avLst/>
              <a:gdLst/>
              <a:ahLst/>
              <a:cxnLst/>
              <a:rect l="l" t="t" r="r" b="b"/>
              <a:pathLst>
                <a:path w="1556551" h="277306">
                  <a:moveTo>
                    <a:pt x="97735" y="0"/>
                  </a:moveTo>
                  <a:lnTo>
                    <a:pt x="1458816" y="0"/>
                  </a:lnTo>
                  <a:cubicBezTo>
                    <a:pt x="1512794" y="0"/>
                    <a:pt x="1556551" y="43758"/>
                    <a:pt x="1556551" y="97735"/>
                  </a:cubicBezTo>
                  <a:lnTo>
                    <a:pt x="1556551" y="179571"/>
                  </a:lnTo>
                  <a:cubicBezTo>
                    <a:pt x="1556551" y="205492"/>
                    <a:pt x="1546254" y="230351"/>
                    <a:pt x="1527925" y="248680"/>
                  </a:cubicBezTo>
                  <a:cubicBezTo>
                    <a:pt x="1509596" y="267009"/>
                    <a:pt x="1484737" y="277306"/>
                    <a:pt x="1458816" y="277306"/>
                  </a:cubicBezTo>
                  <a:lnTo>
                    <a:pt x="97735" y="277306"/>
                  </a:lnTo>
                  <a:cubicBezTo>
                    <a:pt x="71814" y="277306"/>
                    <a:pt x="46955" y="267009"/>
                    <a:pt x="28626" y="248680"/>
                  </a:cubicBezTo>
                  <a:cubicBezTo>
                    <a:pt x="10297" y="230351"/>
                    <a:pt x="0" y="205492"/>
                    <a:pt x="0" y="179571"/>
                  </a:cubicBezTo>
                  <a:lnTo>
                    <a:pt x="0" y="97735"/>
                  </a:lnTo>
                  <a:cubicBezTo>
                    <a:pt x="0" y="71814"/>
                    <a:pt x="10297" y="46955"/>
                    <a:pt x="28626" y="28626"/>
                  </a:cubicBezTo>
                  <a:cubicBezTo>
                    <a:pt x="46955" y="10297"/>
                    <a:pt x="71814" y="0"/>
                    <a:pt x="97735" y="0"/>
                  </a:cubicBezTo>
                  <a:close/>
                </a:path>
              </a:pathLst>
            </a:custGeom>
            <a:solidFill>
              <a:srgbClr val="3AB85C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123825"/>
              <a:ext cx="1556551" cy="401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8960"/>
                </a:lnSpc>
              </a:pPr>
              <a:r>
                <a:rPr lang="en-US" sz="6400">
                  <a:solidFill>
                    <a:srgbClr val="FFFFFF"/>
                  </a:solidFill>
                  <a:latin typeface="DM Sans Bold"/>
                </a:rPr>
                <a:t>Privadas</a:t>
              </a:r>
              <a:endParaRPr lang="en-US" sz="6400">
                <a:solidFill>
                  <a:srgbClr val="FFFFFF"/>
                </a:solidFill>
                <a:latin typeface="DM Sans Bold"/>
              </a:endParaRPr>
            </a:p>
          </p:txBody>
        </p:sp>
      </p:grpSp>
      <p:sp>
        <p:nvSpPr>
          <p:cNvPr id="6" name="Freeform 6"/>
          <p:cNvSpPr/>
          <p:nvPr/>
        </p:nvSpPr>
        <p:spPr>
          <a:xfrm>
            <a:off x="564078" y="1028700"/>
            <a:ext cx="3425264" cy="3425264"/>
          </a:xfrm>
          <a:custGeom>
            <a:avLst/>
            <a:gdLst/>
            <a:ahLst/>
            <a:cxnLst/>
            <a:rect l="l" t="t" r="r" b="b"/>
            <a:pathLst>
              <a:path w="3425264" h="3425264">
                <a:moveTo>
                  <a:pt x="0" y="0"/>
                </a:moveTo>
                <a:lnTo>
                  <a:pt x="3425264" y="0"/>
                </a:lnTo>
                <a:lnTo>
                  <a:pt x="3425264" y="3425264"/>
                </a:lnTo>
                <a:lnTo>
                  <a:pt x="0" y="34252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8488321" y="3714256"/>
            <a:ext cx="8770979" cy="1526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DM Sans"/>
              </a:rPr>
              <a:t>Son APIs con mas restricciones, usualmente requiere autenticación o hasta podrian ser de pago.</a:t>
            </a:r>
            <a:endParaRPr lang="en-US" sz="2900">
              <a:solidFill>
                <a:srgbClr val="000000"/>
              </a:solidFill>
              <a:latin typeface="DM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488321" y="5594894"/>
            <a:ext cx="8439640" cy="3708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5"/>
              </a:lnSpc>
            </a:pPr>
            <a:r>
              <a:rPr lang="en-US" sz="2645">
                <a:solidFill>
                  <a:srgbClr val="000000"/>
                </a:solidFill>
                <a:latin typeface="DM Sans Bold"/>
              </a:rPr>
              <a:t>Ejemplos:</a:t>
            </a:r>
            <a:endParaRPr lang="en-US" sz="2645">
              <a:solidFill>
                <a:srgbClr val="000000"/>
              </a:solidFill>
              <a:latin typeface="DM Sans Bold"/>
            </a:endParaRPr>
          </a:p>
          <a:p>
            <a:pPr algn="l">
              <a:lnSpc>
                <a:spcPts val="3705"/>
              </a:lnSpc>
            </a:pPr>
            <a:endParaRPr lang="en-US" sz="2645">
              <a:solidFill>
                <a:srgbClr val="000000"/>
              </a:solidFill>
              <a:latin typeface="DM Sans Bold"/>
            </a:endParaRPr>
          </a:p>
          <a:p>
            <a:pPr marL="571500" lvl="1" indent="-285750" algn="l">
              <a:lnSpc>
                <a:spcPts val="3705"/>
              </a:lnSpc>
              <a:buFont typeface="Arial" panose="020B0604020202020204"/>
              <a:buChar char="•"/>
            </a:pPr>
            <a:r>
              <a:rPr lang="en-US" sz="2645">
                <a:solidFill>
                  <a:srgbClr val="000000"/>
                </a:solidFill>
                <a:latin typeface="DM Sans Bold"/>
              </a:rPr>
              <a:t>API Facebook: </a:t>
            </a:r>
            <a:r>
              <a:rPr lang="en-US" sz="2645">
                <a:solidFill>
                  <a:srgbClr val="000000"/>
                </a:solidFill>
                <a:latin typeface="DM Sans"/>
              </a:rPr>
              <a:t>Proporciona datos de usuarios etc. https://developers.facebook.com/docs/graph-api</a:t>
            </a:r>
            <a:endParaRPr lang="en-US" sz="2645">
              <a:solidFill>
                <a:srgbClr val="000000"/>
              </a:solidFill>
              <a:latin typeface="DM Sans"/>
            </a:endParaRPr>
          </a:p>
          <a:p>
            <a:pPr algn="l">
              <a:lnSpc>
                <a:spcPts val="3705"/>
              </a:lnSpc>
            </a:pPr>
            <a:endParaRPr lang="en-US" sz="2645">
              <a:solidFill>
                <a:srgbClr val="000000"/>
              </a:solidFill>
              <a:latin typeface="DM Sans"/>
            </a:endParaRPr>
          </a:p>
          <a:p>
            <a:pPr marL="571500" lvl="1" indent="-285750" algn="l">
              <a:lnSpc>
                <a:spcPts val="3705"/>
              </a:lnSpc>
              <a:buFont typeface="Arial" panose="020B0604020202020204"/>
              <a:buChar char="•"/>
            </a:pPr>
            <a:r>
              <a:rPr lang="en-US" sz="2645">
                <a:solidFill>
                  <a:srgbClr val="000000"/>
                </a:solidFill>
                <a:latin typeface="DM Sans Bold"/>
              </a:rPr>
              <a:t>PayPal API</a:t>
            </a:r>
            <a:r>
              <a:rPr lang="en-US" sz="2645">
                <a:solidFill>
                  <a:srgbClr val="000000"/>
                </a:solidFill>
                <a:latin typeface="DM Sans"/>
              </a:rPr>
              <a:t>: Servicio de pago, gestion suscriptores es una api de pago.</a:t>
            </a:r>
            <a:endParaRPr lang="en-US" sz="2645">
              <a:solidFill>
                <a:srgbClr val="000000"/>
              </a:solidFill>
              <a:latin typeface="DM Sans"/>
            </a:endParaRPr>
          </a:p>
          <a:p>
            <a:pPr marL="1143000" lvl="2" indent="-381000" algn="l">
              <a:lnSpc>
                <a:spcPts val="3705"/>
              </a:lnSpc>
              <a:buFont typeface="Arial" panose="020B0604020202020204"/>
              <a:buChar char="⚬"/>
            </a:pPr>
            <a:r>
              <a:rPr lang="en-US" sz="2645">
                <a:solidFill>
                  <a:srgbClr val="000000"/>
                </a:solidFill>
                <a:latin typeface="DM Sans"/>
              </a:rPr>
              <a:t>https://developer.paypal.com/api/rest/</a:t>
            </a:r>
            <a:endParaRPr lang="en-US" sz="2645">
              <a:solidFill>
                <a:srgbClr val="000000"/>
              </a:solidFill>
              <a:latin typeface="DM Sans"/>
            </a:endParaRPr>
          </a:p>
        </p:txBody>
      </p:sp>
    </p:spTree>
  </p:cSld>
  <p:clrMapOvr>
    <a:masterClrMapping/>
  </p:clrMapOvr>
  <p:transition>
    <p:cover dir="r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50790" y="1897693"/>
            <a:ext cx="7446042" cy="1326542"/>
            <a:chOff x="0" y="0"/>
            <a:chExt cx="1556551" cy="2773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56551" cy="277306"/>
            </a:xfrm>
            <a:custGeom>
              <a:avLst/>
              <a:gdLst/>
              <a:ahLst/>
              <a:cxnLst/>
              <a:rect l="l" t="t" r="r" b="b"/>
              <a:pathLst>
                <a:path w="1556551" h="277306">
                  <a:moveTo>
                    <a:pt x="97735" y="0"/>
                  </a:moveTo>
                  <a:lnTo>
                    <a:pt x="1458816" y="0"/>
                  </a:lnTo>
                  <a:cubicBezTo>
                    <a:pt x="1512794" y="0"/>
                    <a:pt x="1556551" y="43758"/>
                    <a:pt x="1556551" y="97735"/>
                  </a:cubicBezTo>
                  <a:lnTo>
                    <a:pt x="1556551" y="179571"/>
                  </a:lnTo>
                  <a:cubicBezTo>
                    <a:pt x="1556551" y="205492"/>
                    <a:pt x="1546254" y="230351"/>
                    <a:pt x="1527925" y="248680"/>
                  </a:cubicBezTo>
                  <a:cubicBezTo>
                    <a:pt x="1509596" y="267009"/>
                    <a:pt x="1484737" y="277306"/>
                    <a:pt x="1458816" y="277306"/>
                  </a:cubicBezTo>
                  <a:lnTo>
                    <a:pt x="97735" y="277306"/>
                  </a:lnTo>
                  <a:cubicBezTo>
                    <a:pt x="71814" y="277306"/>
                    <a:pt x="46955" y="267009"/>
                    <a:pt x="28626" y="248680"/>
                  </a:cubicBezTo>
                  <a:cubicBezTo>
                    <a:pt x="10297" y="230351"/>
                    <a:pt x="0" y="205492"/>
                    <a:pt x="0" y="179571"/>
                  </a:cubicBezTo>
                  <a:lnTo>
                    <a:pt x="0" y="97735"/>
                  </a:lnTo>
                  <a:cubicBezTo>
                    <a:pt x="0" y="71814"/>
                    <a:pt x="10297" y="46955"/>
                    <a:pt x="28626" y="28626"/>
                  </a:cubicBezTo>
                  <a:cubicBezTo>
                    <a:pt x="46955" y="10297"/>
                    <a:pt x="71814" y="0"/>
                    <a:pt x="97735" y="0"/>
                  </a:cubicBezTo>
                  <a:close/>
                </a:path>
              </a:pathLst>
            </a:custGeom>
            <a:solidFill>
              <a:srgbClr val="3AB85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1556551" cy="401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8960"/>
                </a:lnSpc>
              </a:pPr>
              <a:r>
                <a:rPr lang="en-US" sz="6400">
                  <a:solidFill>
                    <a:srgbClr val="FFFFFF"/>
                  </a:solidFill>
                  <a:latin typeface="DM Sans Bold"/>
                </a:rPr>
                <a:t>REST Y SOAP</a:t>
              </a:r>
              <a:endParaRPr lang="en-US" sz="6400">
                <a:solidFill>
                  <a:srgbClr val="FFFFFF"/>
                </a:solidFill>
                <a:latin typeface="DM Sans Bold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1280925" y="3660967"/>
            <a:ext cx="6654356" cy="4286515"/>
          </a:xfrm>
          <a:custGeom>
            <a:avLst/>
            <a:gdLst/>
            <a:ahLst/>
            <a:cxnLst/>
            <a:rect l="l" t="t" r="r" b="b"/>
            <a:pathLst>
              <a:path w="6654356" h="4286515">
                <a:moveTo>
                  <a:pt x="0" y="0"/>
                </a:moveTo>
                <a:lnTo>
                  <a:pt x="6654356" y="0"/>
                </a:lnTo>
                <a:lnTo>
                  <a:pt x="6654356" y="4286515"/>
                </a:lnTo>
                <a:lnTo>
                  <a:pt x="0" y="4286515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8488321" y="3898905"/>
            <a:ext cx="8770979" cy="5043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DM Sans Bold"/>
              </a:rPr>
              <a:t>Dos tipos de API:</a:t>
            </a:r>
            <a:endParaRPr lang="en-US" sz="3200">
              <a:solidFill>
                <a:srgbClr val="000000"/>
              </a:solidFill>
              <a:latin typeface="DM Sans Bold"/>
            </a:endParaRPr>
          </a:p>
          <a:p>
            <a:pPr marL="690880" lvl="1" indent="-345440" algn="l">
              <a:lnSpc>
                <a:spcPts val="4480"/>
              </a:lnSpc>
              <a:buAutoNum type="arabicPeriod"/>
            </a:pPr>
            <a:r>
              <a:rPr lang="en-US" sz="3200">
                <a:solidFill>
                  <a:srgbClr val="000000"/>
                </a:solidFill>
                <a:latin typeface="DM Sans"/>
              </a:rPr>
              <a:t> REST (Representational State Transfer).</a:t>
            </a:r>
            <a:endParaRPr lang="en-US" sz="3200">
              <a:solidFill>
                <a:srgbClr val="000000"/>
              </a:solidFill>
              <a:latin typeface="DM Sans"/>
            </a:endParaRPr>
          </a:p>
          <a:p>
            <a:pPr marL="1381760" lvl="2" indent="-460375" algn="l">
              <a:lnSpc>
                <a:spcPts val="4480"/>
              </a:lnSpc>
              <a:buAutoNum type="alphaLcPeriod"/>
            </a:pPr>
            <a:r>
              <a:rPr lang="en-US" sz="3200">
                <a:solidFill>
                  <a:srgbClr val="000000"/>
                </a:solidFill>
                <a:latin typeface="DM Sans"/>
              </a:rPr>
              <a:t>Se puede usar varios formatos.</a:t>
            </a:r>
            <a:endParaRPr lang="en-US" sz="3200">
              <a:solidFill>
                <a:srgbClr val="000000"/>
              </a:solidFill>
              <a:latin typeface="DM Sans"/>
            </a:endParaRPr>
          </a:p>
          <a:p>
            <a:pPr marL="690880" lvl="1" indent="-345440" algn="l">
              <a:lnSpc>
                <a:spcPts val="4480"/>
              </a:lnSpc>
              <a:buAutoNum type="arabicPeriod"/>
            </a:pPr>
            <a:r>
              <a:rPr lang="en-US" sz="3200">
                <a:solidFill>
                  <a:srgbClr val="000000"/>
                </a:solidFill>
                <a:latin typeface="DM Sans"/>
              </a:rPr>
              <a:t> SOAP (Simple Object Access Protocol).</a:t>
            </a:r>
            <a:endParaRPr lang="en-US" sz="3200">
              <a:solidFill>
                <a:srgbClr val="000000"/>
              </a:solidFill>
              <a:latin typeface="DM Sans"/>
            </a:endParaRPr>
          </a:p>
          <a:p>
            <a:pPr marL="1381760" lvl="2" indent="-460375" algn="l">
              <a:lnSpc>
                <a:spcPts val="4480"/>
              </a:lnSpc>
              <a:buAutoNum type="alphaLcPeriod"/>
            </a:pPr>
            <a:r>
              <a:rPr lang="en-US" sz="3200">
                <a:solidFill>
                  <a:srgbClr val="000000"/>
                </a:solidFill>
                <a:latin typeface="DM Sans"/>
              </a:rPr>
              <a:t>Usa </a:t>
            </a:r>
            <a:r>
              <a:rPr lang="en-US" sz="3200">
                <a:solidFill>
                  <a:srgbClr val="000000"/>
                </a:solidFill>
                <a:latin typeface="DM Sans Bold"/>
              </a:rPr>
              <a:t>xml </a:t>
            </a:r>
            <a:r>
              <a:rPr lang="en-US" sz="3200">
                <a:solidFill>
                  <a:srgbClr val="000000"/>
                </a:solidFill>
                <a:latin typeface="DM Sans"/>
              </a:rPr>
              <a:t>solamente. </a:t>
            </a:r>
            <a:endParaRPr lang="en-US" sz="3200">
              <a:solidFill>
                <a:srgbClr val="000000"/>
              </a:solidFill>
              <a:latin typeface="DM Sans"/>
            </a:endParaRPr>
          </a:p>
          <a:p>
            <a:pPr algn="l">
              <a:lnSpc>
                <a:spcPts val="4480"/>
              </a:lnSpc>
            </a:pPr>
            <a:endParaRPr lang="en-US" sz="3200">
              <a:solidFill>
                <a:srgbClr val="000000"/>
              </a:solidFill>
              <a:latin typeface="DM Sans"/>
            </a:endParaRP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DM Sans Bold"/>
              </a:rPr>
              <a:t>REST es más común debido a su simplicidad y eficiencia.</a:t>
            </a:r>
            <a:endParaRPr lang="en-US" sz="3200">
              <a:solidFill>
                <a:srgbClr val="000000"/>
              </a:solidFill>
              <a:latin typeface="DM Sans Bold"/>
            </a:endParaRPr>
          </a:p>
          <a:p>
            <a:pPr algn="l">
              <a:lnSpc>
                <a:spcPts val="4480"/>
              </a:lnSpc>
            </a:pPr>
            <a:endParaRPr lang="en-US" sz="3200">
              <a:solidFill>
                <a:srgbClr val="000000"/>
              </a:solidFill>
              <a:latin typeface="DM Sans Bold"/>
            </a:endParaRPr>
          </a:p>
        </p:txBody>
      </p:sp>
    </p:spTree>
  </p:cSld>
  <p:clrMapOvr>
    <a:masterClrMapping/>
  </p:clrMapOvr>
  <p:transition>
    <p:cover dir="r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76906" y="3558681"/>
            <a:ext cx="5778062" cy="5778062"/>
          </a:xfrm>
          <a:custGeom>
            <a:avLst/>
            <a:gdLst/>
            <a:ahLst/>
            <a:cxnLst/>
            <a:rect l="l" t="t" r="r" b="b"/>
            <a:pathLst>
              <a:path w="5778062" h="5778062">
                <a:moveTo>
                  <a:pt x="0" y="0"/>
                </a:moveTo>
                <a:lnTo>
                  <a:pt x="5778063" y="0"/>
                </a:lnTo>
                <a:lnTo>
                  <a:pt x="5778063" y="5778063"/>
                </a:lnTo>
                <a:lnTo>
                  <a:pt x="0" y="5778063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0368185">
            <a:off x="2356535" y="948183"/>
            <a:ext cx="5778062" cy="5778062"/>
          </a:xfrm>
          <a:custGeom>
            <a:avLst/>
            <a:gdLst/>
            <a:ahLst/>
            <a:cxnLst/>
            <a:rect l="l" t="t" r="r" b="b"/>
            <a:pathLst>
              <a:path w="5778062" h="5778062">
                <a:moveTo>
                  <a:pt x="0" y="0"/>
                </a:moveTo>
                <a:lnTo>
                  <a:pt x="5778062" y="0"/>
                </a:lnTo>
                <a:lnTo>
                  <a:pt x="5778062" y="5778062"/>
                </a:lnTo>
                <a:lnTo>
                  <a:pt x="0" y="5778062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8921338" y="4709038"/>
            <a:ext cx="8860708" cy="1173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40"/>
              </a:lnSpc>
            </a:pPr>
            <a:r>
              <a:rPr lang="en-US" sz="9705" spc="-291">
                <a:solidFill>
                  <a:srgbClr val="000000"/>
                </a:solidFill>
                <a:latin typeface="DM Sans Bold"/>
              </a:rPr>
              <a:t>Componentes</a:t>
            </a:r>
            <a:endParaRPr lang="en-US" sz="9705" spc="-291">
              <a:solidFill>
                <a:srgbClr val="000000"/>
              </a:solidFill>
              <a:latin typeface="DM Sans Bold"/>
            </a:endParaRPr>
          </a:p>
        </p:txBody>
      </p:sp>
    </p:spTree>
  </p:cSld>
  <p:clrMapOvr>
    <a:masterClrMapping/>
  </p:clrMapOvr>
  <p:transition>
    <p:cover dir="r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132061" y="2123648"/>
            <a:ext cx="8770979" cy="7291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0" lvl="1" indent="-34544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3200">
                <a:solidFill>
                  <a:srgbClr val="000000"/>
                </a:solidFill>
                <a:latin typeface="DM Sans"/>
              </a:rPr>
              <a:t>Es una </a:t>
            </a:r>
            <a:r>
              <a:rPr lang="en-US" sz="3200">
                <a:solidFill>
                  <a:srgbClr val="000000"/>
                </a:solidFill>
                <a:latin typeface="DM Sans Bold"/>
              </a:rPr>
              <a:t>URL </a:t>
            </a:r>
            <a:r>
              <a:rPr lang="en-US" sz="3200">
                <a:solidFill>
                  <a:srgbClr val="000000"/>
                </a:solidFill>
                <a:latin typeface="DM Sans"/>
              </a:rPr>
              <a:t>específica en una API.</a:t>
            </a:r>
            <a:endParaRPr lang="en-US" sz="3200">
              <a:solidFill>
                <a:srgbClr val="000000"/>
              </a:solidFill>
              <a:latin typeface="DM Sans"/>
            </a:endParaRP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DM Sans"/>
              </a:rPr>
              <a:t> </a:t>
            </a:r>
            <a:endParaRPr lang="en-US" sz="3200">
              <a:solidFill>
                <a:srgbClr val="000000"/>
              </a:solidFill>
              <a:latin typeface="DM Sans"/>
            </a:endParaRPr>
          </a:p>
          <a:p>
            <a:pPr marL="690880" lvl="1" indent="-34544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3200">
                <a:solidFill>
                  <a:srgbClr val="000000"/>
                </a:solidFill>
                <a:latin typeface="DM Sans"/>
              </a:rPr>
              <a:t>Define un punto de acceso donde un programador </a:t>
            </a:r>
            <a:r>
              <a:rPr lang="en-US" sz="3200">
                <a:solidFill>
                  <a:srgbClr val="000000"/>
                </a:solidFill>
                <a:latin typeface="DM Sans Bold"/>
              </a:rPr>
              <a:t>interactua con el servidor</a:t>
            </a:r>
            <a:r>
              <a:rPr lang="en-US" sz="3200">
                <a:solidFill>
                  <a:srgbClr val="000000"/>
                </a:solidFill>
                <a:latin typeface="DM Sans"/>
              </a:rPr>
              <a:t> para realizar una acción determinada. </a:t>
            </a:r>
            <a:endParaRPr lang="en-US" sz="3200">
              <a:solidFill>
                <a:srgbClr val="000000"/>
              </a:solidFill>
              <a:latin typeface="DM Sans"/>
            </a:endParaRPr>
          </a:p>
          <a:p>
            <a:pPr marL="690880" lvl="1" indent="-345440" algn="l">
              <a:lnSpc>
                <a:spcPts val="4480"/>
              </a:lnSpc>
              <a:buFont typeface="Arial" panose="020B0604020202020204"/>
              <a:buChar char="•"/>
            </a:pPr>
            <a:endParaRPr lang="en-US" sz="3200">
              <a:solidFill>
                <a:srgbClr val="000000"/>
              </a:solidFill>
              <a:latin typeface="DM Sans"/>
            </a:endParaRPr>
          </a:p>
          <a:p>
            <a:pPr marL="690880" lvl="1" indent="-34544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3200">
                <a:solidFill>
                  <a:srgbClr val="000000"/>
                </a:solidFill>
                <a:latin typeface="DM Sans"/>
              </a:rPr>
              <a:t>En resumen: Es una </a:t>
            </a:r>
            <a:r>
              <a:rPr lang="en-US" sz="3200">
                <a:solidFill>
                  <a:srgbClr val="000000"/>
                </a:solidFill>
                <a:latin typeface="DM Sans Bold"/>
              </a:rPr>
              <a:t>dirección única</a:t>
            </a:r>
            <a:r>
              <a:rPr lang="en-US" sz="3200">
                <a:solidFill>
                  <a:srgbClr val="000000"/>
                </a:solidFill>
                <a:latin typeface="DM Sans"/>
              </a:rPr>
              <a:t> en la API que permite a los desarrolladores realizar </a:t>
            </a:r>
            <a:r>
              <a:rPr lang="en-US" sz="3200">
                <a:solidFill>
                  <a:srgbClr val="000000"/>
                </a:solidFill>
                <a:latin typeface="DM Sans Bold"/>
              </a:rPr>
              <a:t>operaciones específicas</a:t>
            </a:r>
            <a:r>
              <a:rPr lang="en-US" sz="3200">
                <a:solidFill>
                  <a:srgbClr val="000000"/>
                </a:solidFill>
                <a:latin typeface="DM Sans"/>
              </a:rPr>
              <a:t> como obtener, envia, actualizar o eliminar datos.</a:t>
            </a:r>
            <a:endParaRPr lang="en-US" sz="3200">
              <a:solidFill>
                <a:srgbClr val="000000"/>
              </a:solidFill>
              <a:latin typeface="DM Sans"/>
            </a:endParaRPr>
          </a:p>
          <a:p>
            <a:pPr marL="690880" lvl="1" indent="-345440" algn="l">
              <a:lnSpc>
                <a:spcPts val="4480"/>
              </a:lnSpc>
              <a:buFont typeface="Arial" panose="020B0604020202020204"/>
              <a:buChar char="•"/>
            </a:pPr>
            <a:endParaRPr lang="en-US" sz="3200">
              <a:solidFill>
                <a:srgbClr val="000000"/>
              </a:solidFill>
              <a:latin typeface="DM Sans"/>
            </a:endParaRPr>
          </a:p>
          <a:p>
            <a:pPr marL="690880" lvl="1" indent="-34544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3200">
                <a:solidFill>
                  <a:srgbClr val="000000"/>
                </a:solidFill>
                <a:latin typeface="DM Sans Bold"/>
              </a:rPr>
              <a:t>Ejemplo</a:t>
            </a:r>
            <a:r>
              <a:rPr lang="en-US" sz="3200">
                <a:solidFill>
                  <a:srgbClr val="000000"/>
                </a:solidFill>
                <a:latin typeface="DM Sans"/>
              </a:rPr>
              <a:t>:  http://localhost/api/libreria-api/public/index.php/autores</a:t>
            </a:r>
            <a:endParaRPr lang="en-US" sz="3200">
              <a:solidFill>
                <a:srgbClr val="000000"/>
              </a:solidFill>
              <a:latin typeface="DM Sans"/>
            </a:endParaRPr>
          </a:p>
        </p:txBody>
      </p:sp>
      <p:sp>
        <p:nvSpPr>
          <p:cNvPr id="3" name="Freeform 3"/>
          <p:cNvSpPr/>
          <p:nvPr/>
        </p:nvSpPr>
        <p:spPr>
          <a:xfrm flipH="1">
            <a:off x="-699465" y="1610194"/>
            <a:ext cx="7028068" cy="7066613"/>
          </a:xfrm>
          <a:custGeom>
            <a:avLst/>
            <a:gdLst/>
            <a:ahLst/>
            <a:cxnLst/>
            <a:rect l="l" t="t" r="r" b="b"/>
            <a:pathLst>
              <a:path w="7028068" h="7066613">
                <a:moveTo>
                  <a:pt x="7028068" y="0"/>
                </a:moveTo>
                <a:lnTo>
                  <a:pt x="0" y="0"/>
                </a:lnTo>
                <a:lnTo>
                  <a:pt x="0" y="7066612"/>
                </a:lnTo>
                <a:lnTo>
                  <a:pt x="7028068" y="7066612"/>
                </a:lnTo>
                <a:lnTo>
                  <a:pt x="7028068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8898439" y="650784"/>
            <a:ext cx="7446042" cy="1326542"/>
            <a:chOff x="0" y="0"/>
            <a:chExt cx="1556551" cy="27730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56551" cy="277306"/>
            </a:xfrm>
            <a:custGeom>
              <a:avLst/>
              <a:gdLst/>
              <a:ahLst/>
              <a:cxnLst/>
              <a:rect l="l" t="t" r="r" b="b"/>
              <a:pathLst>
                <a:path w="1556551" h="277306">
                  <a:moveTo>
                    <a:pt x="97735" y="0"/>
                  </a:moveTo>
                  <a:lnTo>
                    <a:pt x="1458816" y="0"/>
                  </a:lnTo>
                  <a:cubicBezTo>
                    <a:pt x="1512794" y="0"/>
                    <a:pt x="1556551" y="43758"/>
                    <a:pt x="1556551" y="97735"/>
                  </a:cubicBezTo>
                  <a:lnTo>
                    <a:pt x="1556551" y="179571"/>
                  </a:lnTo>
                  <a:cubicBezTo>
                    <a:pt x="1556551" y="205492"/>
                    <a:pt x="1546254" y="230351"/>
                    <a:pt x="1527925" y="248680"/>
                  </a:cubicBezTo>
                  <a:cubicBezTo>
                    <a:pt x="1509596" y="267009"/>
                    <a:pt x="1484737" y="277306"/>
                    <a:pt x="1458816" y="277306"/>
                  </a:cubicBezTo>
                  <a:lnTo>
                    <a:pt x="97735" y="277306"/>
                  </a:lnTo>
                  <a:cubicBezTo>
                    <a:pt x="71814" y="277306"/>
                    <a:pt x="46955" y="267009"/>
                    <a:pt x="28626" y="248680"/>
                  </a:cubicBezTo>
                  <a:cubicBezTo>
                    <a:pt x="10297" y="230351"/>
                    <a:pt x="0" y="205492"/>
                    <a:pt x="0" y="179571"/>
                  </a:cubicBezTo>
                  <a:lnTo>
                    <a:pt x="0" y="97735"/>
                  </a:lnTo>
                  <a:cubicBezTo>
                    <a:pt x="0" y="71814"/>
                    <a:pt x="10297" y="46955"/>
                    <a:pt x="28626" y="28626"/>
                  </a:cubicBezTo>
                  <a:cubicBezTo>
                    <a:pt x="46955" y="10297"/>
                    <a:pt x="71814" y="0"/>
                    <a:pt x="97735" y="0"/>
                  </a:cubicBezTo>
                  <a:close/>
                </a:path>
              </a:pathLst>
            </a:custGeom>
            <a:solidFill>
              <a:srgbClr val="3AB85C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123825"/>
              <a:ext cx="1556551" cy="401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8960"/>
                </a:lnSpc>
              </a:pPr>
              <a:r>
                <a:rPr lang="en-US" sz="6400">
                  <a:solidFill>
                    <a:srgbClr val="FFFFFF"/>
                  </a:solidFill>
                  <a:latin typeface="DM Sans Bold"/>
                </a:rPr>
                <a:t>ENDPOINTS</a:t>
              </a:r>
              <a:endParaRPr lang="en-US" sz="6400">
                <a:solidFill>
                  <a:srgbClr val="FFFFFF"/>
                </a:solidFill>
                <a:latin typeface="DM Sans Bold"/>
              </a:endParaRPr>
            </a:p>
          </p:txBody>
        </p:sp>
      </p:grpSp>
      <p:sp>
        <p:nvSpPr>
          <p:cNvPr id="7" name="Freeform 7"/>
          <p:cNvSpPr/>
          <p:nvPr/>
        </p:nvSpPr>
        <p:spPr>
          <a:xfrm>
            <a:off x="13813713" y="9307451"/>
            <a:ext cx="360020" cy="170191"/>
          </a:xfrm>
          <a:custGeom>
            <a:avLst/>
            <a:gdLst/>
            <a:ahLst/>
            <a:cxnLst/>
            <a:rect l="l" t="t" r="r" b="b"/>
            <a:pathLst>
              <a:path w="360020" h="170191">
                <a:moveTo>
                  <a:pt x="0" y="0"/>
                </a:moveTo>
                <a:lnTo>
                  <a:pt x="360020" y="0"/>
                </a:lnTo>
                <a:lnTo>
                  <a:pt x="360020" y="170191"/>
                </a:lnTo>
                <a:lnTo>
                  <a:pt x="0" y="1701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>
    <p:cover dir="r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132061" y="2212713"/>
            <a:ext cx="8770979" cy="7291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0" lvl="1" indent="-34544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3200">
                <a:solidFill>
                  <a:srgbClr val="000000"/>
                </a:solidFill>
                <a:latin typeface="DM Sans"/>
              </a:rPr>
              <a:t>Son los </a:t>
            </a:r>
            <a:r>
              <a:rPr lang="en-US" sz="3200">
                <a:solidFill>
                  <a:srgbClr val="000000"/>
                </a:solidFill>
                <a:latin typeface="DM Sans Bold"/>
              </a:rPr>
              <a:t>verbos</a:t>
            </a:r>
            <a:r>
              <a:rPr lang="en-US" sz="3200">
                <a:solidFill>
                  <a:srgbClr val="000000"/>
                </a:solidFill>
                <a:latin typeface="DM Sans"/>
              </a:rPr>
              <a:t> HTTP usados para realizar operaciones sobre la api</a:t>
            </a:r>
            <a:endParaRPr lang="en-US" sz="3200">
              <a:solidFill>
                <a:srgbClr val="000000"/>
              </a:solidFill>
              <a:latin typeface="DM Sans"/>
            </a:endParaRPr>
          </a:p>
          <a:p>
            <a:pPr marL="690880" lvl="1" indent="-345440" algn="l">
              <a:lnSpc>
                <a:spcPts val="4480"/>
              </a:lnSpc>
              <a:buFont typeface="Arial" panose="020B0604020202020204"/>
              <a:buChar char="•"/>
            </a:pPr>
            <a:endParaRPr lang="en-US" sz="3200">
              <a:solidFill>
                <a:srgbClr val="000000"/>
              </a:solidFill>
              <a:latin typeface="DM Sans"/>
            </a:endParaRPr>
          </a:p>
          <a:p>
            <a:pPr marL="690880" lvl="1" indent="-34544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3200">
                <a:solidFill>
                  <a:srgbClr val="000000"/>
                </a:solidFill>
                <a:latin typeface="DM Sans"/>
              </a:rPr>
              <a:t>Los métodos HTTP más comunes son:</a:t>
            </a:r>
            <a:endParaRPr lang="en-US" sz="3200">
              <a:solidFill>
                <a:srgbClr val="000000"/>
              </a:solidFill>
              <a:latin typeface="DM Sans"/>
            </a:endParaRPr>
          </a:p>
          <a:p>
            <a:pPr marL="1381760" lvl="2" indent="-460375" algn="l">
              <a:lnSpc>
                <a:spcPts val="4480"/>
              </a:lnSpc>
              <a:buFont typeface="Arial" panose="020B0604020202020204"/>
              <a:buChar char="⚬"/>
            </a:pPr>
            <a:r>
              <a:rPr lang="en-US" sz="3200">
                <a:solidFill>
                  <a:srgbClr val="000000"/>
                </a:solidFill>
                <a:latin typeface="DM Sans Bold"/>
              </a:rPr>
              <a:t>GET - Solicitar datos.</a:t>
            </a:r>
            <a:endParaRPr lang="en-US" sz="3200">
              <a:solidFill>
                <a:srgbClr val="000000"/>
              </a:solidFill>
              <a:latin typeface="DM Sans Bold"/>
            </a:endParaRPr>
          </a:p>
          <a:p>
            <a:pPr marL="1381760" lvl="2" indent="-460375" algn="l">
              <a:lnSpc>
                <a:spcPts val="4480"/>
              </a:lnSpc>
              <a:buFont typeface="Arial" panose="020B0604020202020204"/>
              <a:buChar char="⚬"/>
            </a:pPr>
            <a:r>
              <a:rPr lang="en-US" sz="3200">
                <a:solidFill>
                  <a:srgbClr val="000000"/>
                </a:solidFill>
                <a:latin typeface="DM Sans Bold"/>
              </a:rPr>
              <a:t>POST - Enviar datos.</a:t>
            </a:r>
            <a:endParaRPr lang="en-US" sz="3200">
              <a:solidFill>
                <a:srgbClr val="000000"/>
              </a:solidFill>
              <a:latin typeface="DM Sans Bold"/>
            </a:endParaRPr>
          </a:p>
          <a:p>
            <a:pPr marL="1381760" lvl="2" indent="-460375" algn="l">
              <a:lnSpc>
                <a:spcPts val="4480"/>
              </a:lnSpc>
              <a:buFont typeface="Arial" panose="020B0604020202020204"/>
              <a:buChar char="⚬"/>
            </a:pPr>
            <a:r>
              <a:rPr lang="en-US" sz="3200">
                <a:solidFill>
                  <a:srgbClr val="000000"/>
                </a:solidFill>
                <a:latin typeface="DM Sans Bold"/>
              </a:rPr>
              <a:t>PUT - Actualizar.</a:t>
            </a:r>
            <a:endParaRPr lang="en-US" sz="3200">
              <a:solidFill>
                <a:srgbClr val="000000"/>
              </a:solidFill>
              <a:latin typeface="DM Sans Bold"/>
            </a:endParaRPr>
          </a:p>
          <a:p>
            <a:pPr marL="1381760" lvl="2" indent="-460375" algn="l">
              <a:lnSpc>
                <a:spcPts val="4480"/>
              </a:lnSpc>
              <a:buFont typeface="Arial" panose="020B0604020202020204"/>
              <a:buChar char="⚬"/>
            </a:pPr>
            <a:r>
              <a:rPr lang="en-US" sz="3200">
                <a:solidFill>
                  <a:srgbClr val="000000"/>
                </a:solidFill>
                <a:latin typeface="DM Sans Bold"/>
              </a:rPr>
              <a:t>DELETE - Eliminar. </a:t>
            </a:r>
            <a:endParaRPr lang="en-US" sz="3200">
              <a:solidFill>
                <a:srgbClr val="000000"/>
              </a:solidFill>
              <a:latin typeface="DM Sans Bold"/>
            </a:endParaRPr>
          </a:p>
          <a:p>
            <a:pPr marL="690880" lvl="1" indent="-345440" algn="l">
              <a:lnSpc>
                <a:spcPts val="4480"/>
              </a:lnSpc>
              <a:buFont typeface="Arial" panose="020B0604020202020204"/>
              <a:buChar char="•"/>
            </a:pPr>
            <a:endParaRPr lang="en-US" sz="3200">
              <a:solidFill>
                <a:srgbClr val="000000"/>
              </a:solidFill>
              <a:latin typeface="DM Sans Bold"/>
            </a:endParaRPr>
          </a:p>
          <a:p>
            <a:pPr marL="690880" lvl="1" indent="-34544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3200">
                <a:solidFill>
                  <a:srgbClr val="000000"/>
                </a:solidFill>
                <a:latin typeface="DM Sans"/>
              </a:rPr>
              <a:t>Cada uno de estos métodos </a:t>
            </a:r>
            <a:r>
              <a:rPr lang="en-US" sz="3200">
                <a:solidFill>
                  <a:srgbClr val="000000"/>
                </a:solidFill>
                <a:latin typeface="DM Sans Bold"/>
              </a:rPr>
              <a:t>define una acción específica</a:t>
            </a:r>
            <a:r>
              <a:rPr lang="en-US" sz="3200">
                <a:solidFill>
                  <a:srgbClr val="000000"/>
                </a:solidFill>
                <a:latin typeface="DM Sans"/>
              </a:rPr>
              <a:t> que se puede realizar en los recursos de la API.</a:t>
            </a:r>
            <a:endParaRPr lang="en-US" sz="3200">
              <a:solidFill>
                <a:srgbClr val="000000"/>
              </a:solidFill>
              <a:latin typeface="DM Sans"/>
            </a:endParaRPr>
          </a:p>
          <a:p>
            <a:pPr marL="690880" lvl="1" indent="-345440" algn="l">
              <a:lnSpc>
                <a:spcPts val="4480"/>
              </a:lnSpc>
              <a:buFont typeface="Arial" panose="020B0604020202020204"/>
              <a:buChar char="•"/>
            </a:pPr>
            <a:endParaRPr lang="en-US" sz="3200">
              <a:solidFill>
                <a:srgbClr val="000000"/>
              </a:solidFill>
              <a:latin typeface="DM Sans"/>
            </a:endParaRPr>
          </a:p>
        </p:txBody>
      </p:sp>
      <p:sp>
        <p:nvSpPr>
          <p:cNvPr id="3" name="Freeform 3"/>
          <p:cNvSpPr/>
          <p:nvPr/>
        </p:nvSpPr>
        <p:spPr>
          <a:xfrm flipH="1">
            <a:off x="-699465" y="1699258"/>
            <a:ext cx="7028068" cy="7066613"/>
          </a:xfrm>
          <a:custGeom>
            <a:avLst/>
            <a:gdLst/>
            <a:ahLst/>
            <a:cxnLst/>
            <a:rect l="l" t="t" r="r" b="b"/>
            <a:pathLst>
              <a:path w="7028068" h="7066613">
                <a:moveTo>
                  <a:pt x="7028068" y="0"/>
                </a:moveTo>
                <a:lnTo>
                  <a:pt x="0" y="0"/>
                </a:lnTo>
                <a:lnTo>
                  <a:pt x="0" y="7066613"/>
                </a:lnTo>
                <a:lnTo>
                  <a:pt x="7028068" y="7066613"/>
                </a:lnTo>
                <a:lnTo>
                  <a:pt x="7028068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8898439" y="739849"/>
            <a:ext cx="7446042" cy="1326542"/>
            <a:chOff x="0" y="0"/>
            <a:chExt cx="1556551" cy="27730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56551" cy="277306"/>
            </a:xfrm>
            <a:custGeom>
              <a:avLst/>
              <a:gdLst/>
              <a:ahLst/>
              <a:cxnLst/>
              <a:rect l="l" t="t" r="r" b="b"/>
              <a:pathLst>
                <a:path w="1556551" h="277306">
                  <a:moveTo>
                    <a:pt x="97735" y="0"/>
                  </a:moveTo>
                  <a:lnTo>
                    <a:pt x="1458816" y="0"/>
                  </a:lnTo>
                  <a:cubicBezTo>
                    <a:pt x="1512794" y="0"/>
                    <a:pt x="1556551" y="43758"/>
                    <a:pt x="1556551" y="97735"/>
                  </a:cubicBezTo>
                  <a:lnTo>
                    <a:pt x="1556551" y="179571"/>
                  </a:lnTo>
                  <a:cubicBezTo>
                    <a:pt x="1556551" y="205492"/>
                    <a:pt x="1546254" y="230351"/>
                    <a:pt x="1527925" y="248680"/>
                  </a:cubicBezTo>
                  <a:cubicBezTo>
                    <a:pt x="1509596" y="267009"/>
                    <a:pt x="1484737" y="277306"/>
                    <a:pt x="1458816" y="277306"/>
                  </a:cubicBezTo>
                  <a:lnTo>
                    <a:pt x="97735" y="277306"/>
                  </a:lnTo>
                  <a:cubicBezTo>
                    <a:pt x="71814" y="277306"/>
                    <a:pt x="46955" y="267009"/>
                    <a:pt x="28626" y="248680"/>
                  </a:cubicBezTo>
                  <a:cubicBezTo>
                    <a:pt x="10297" y="230351"/>
                    <a:pt x="0" y="205492"/>
                    <a:pt x="0" y="179571"/>
                  </a:cubicBezTo>
                  <a:lnTo>
                    <a:pt x="0" y="97735"/>
                  </a:lnTo>
                  <a:cubicBezTo>
                    <a:pt x="0" y="71814"/>
                    <a:pt x="10297" y="46955"/>
                    <a:pt x="28626" y="28626"/>
                  </a:cubicBezTo>
                  <a:cubicBezTo>
                    <a:pt x="46955" y="10297"/>
                    <a:pt x="71814" y="0"/>
                    <a:pt x="97735" y="0"/>
                  </a:cubicBezTo>
                  <a:close/>
                </a:path>
              </a:pathLst>
            </a:custGeom>
            <a:solidFill>
              <a:srgbClr val="3AB85C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123825"/>
              <a:ext cx="1556551" cy="401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8960"/>
                </a:lnSpc>
              </a:pPr>
              <a:r>
                <a:rPr lang="en-US" sz="6400">
                  <a:solidFill>
                    <a:srgbClr val="FFFFFF"/>
                  </a:solidFill>
                  <a:latin typeface="DM Sans Bold"/>
                </a:rPr>
                <a:t>Metodos</a:t>
              </a:r>
              <a:endParaRPr lang="en-US" sz="6400">
                <a:solidFill>
                  <a:srgbClr val="FFFFFF"/>
                </a:solidFill>
                <a:latin typeface="DM Sans Bold"/>
              </a:endParaRPr>
            </a:p>
          </p:txBody>
        </p:sp>
      </p:grpSp>
      <p:sp>
        <p:nvSpPr>
          <p:cNvPr id="7" name="Freeform 7"/>
          <p:cNvSpPr/>
          <p:nvPr/>
        </p:nvSpPr>
        <p:spPr>
          <a:xfrm>
            <a:off x="13813713" y="9396516"/>
            <a:ext cx="360020" cy="170191"/>
          </a:xfrm>
          <a:custGeom>
            <a:avLst/>
            <a:gdLst/>
            <a:ahLst/>
            <a:cxnLst/>
            <a:rect l="l" t="t" r="r" b="b"/>
            <a:pathLst>
              <a:path w="360020" h="170191">
                <a:moveTo>
                  <a:pt x="0" y="0"/>
                </a:moveTo>
                <a:lnTo>
                  <a:pt x="360020" y="0"/>
                </a:lnTo>
                <a:lnTo>
                  <a:pt x="360020" y="170191"/>
                </a:lnTo>
                <a:lnTo>
                  <a:pt x="0" y="1701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>
    <p:cover dir="r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14600" y="190500"/>
            <a:ext cx="14082232" cy="3033735"/>
            <a:chOff x="0" y="-123825"/>
            <a:chExt cx="1556551" cy="4011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56551" cy="277306"/>
            </a:xfrm>
            <a:custGeom>
              <a:avLst/>
              <a:gdLst/>
              <a:ahLst/>
              <a:cxnLst/>
              <a:rect l="l" t="t" r="r" b="b"/>
              <a:pathLst>
                <a:path w="1556551" h="277306">
                  <a:moveTo>
                    <a:pt x="97735" y="0"/>
                  </a:moveTo>
                  <a:lnTo>
                    <a:pt x="1458816" y="0"/>
                  </a:lnTo>
                  <a:cubicBezTo>
                    <a:pt x="1512794" y="0"/>
                    <a:pt x="1556551" y="43758"/>
                    <a:pt x="1556551" y="97735"/>
                  </a:cubicBezTo>
                  <a:lnTo>
                    <a:pt x="1556551" y="179571"/>
                  </a:lnTo>
                  <a:cubicBezTo>
                    <a:pt x="1556551" y="205492"/>
                    <a:pt x="1546254" y="230351"/>
                    <a:pt x="1527925" y="248680"/>
                  </a:cubicBezTo>
                  <a:cubicBezTo>
                    <a:pt x="1509596" y="267009"/>
                    <a:pt x="1484737" y="277306"/>
                    <a:pt x="1458816" y="277306"/>
                  </a:cubicBezTo>
                  <a:lnTo>
                    <a:pt x="97735" y="277306"/>
                  </a:lnTo>
                  <a:cubicBezTo>
                    <a:pt x="71814" y="277306"/>
                    <a:pt x="46955" y="267009"/>
                    <a:pt x="28626" y="248680"/>
                  </a:cubicBezTo>
                  <a:cubicBezTo>
                    <a:pt x="10297" y="230351"/>
                    <a:pt x="0" y="205492"/>
                    <a:pt x="0" y="179571"/>
                  </a:cubicBezTo>
                  <a:lnTo>
                    <a:pt x="0" y="97735"/>
                  </a:lnTo>
                  <a:cubicBezTo>
                    <a:pt x="0" y="71814"/>
                    <a:pt x="10297" y="46955"/>
                    <a:pt x="28626" y="28626"/>
                  </a:cubicBezTo>
                  <a:cubicBezTo>
                    <a:pt x="46955" y="10297"/>
                    <a:pt x="71814" y="0"/>
                    <a:pt x="97735" y="0"/>
                  </a:cubicBezTo>
                  <a:close/>
                </a:path>
              </a:pathLst>
            </a:custGeom>
            <a:solidFill>
              <a:srgbClr val="3AB85C"/>
            </a:solidFill>
          </p:spPr>
          <p:txBody>
            <a:bodyPr/>
            <a:lstStyle/>
            <a:p>
              <a:endParaRPr lang="es-CR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1556551" cy="401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8960"/>
                </a:lnSpc>
              </a:pPr>
              <a:r>
                <a:rPr lang="en-US" sz="5400" dirty="0" err="1">
                  <a:solidFill>
                    <a:srgbClr val="FFFFFF"/>
                  </a:solidFill>
                  <a:latin typeface="DM Sans Bold"/>
                </a:rPr>
                <a:t>Estructura</a:t>
              </a:r>
              <a:r>
                <a:rPr lang="en-US" sz="5400" dirty="0">
                  <a:solidFill>
                    <a:srgbClr val="FFFFFF"/>
                  </a:solidFill>
                  <a:latin typeface="DM Sans Bold"/>
                </a:rPr>
                <a:t> de </a:t>
              </a:r>
              <a:r>
                <a:rPr lang="en-US" sz="5400" dirty="0" err="1">
                  <a:solidFill>
                    <a:srgbClr val="FFFFFF"/>
                  </a:solidFill>
                  <a:latin typeface="DM Sans Bold"/>
                </a:rPr>
                <a:t>una</a:t>
              </a:r>
              <a:r>
                <a:rPr lang="en-US" sz="5400" dirty="0">
                  <a:solidFill>
                    <a:srgbClr val="FFFFFF"/>
                  </a:solidFill>
                  <a:latin typeface="DM Sans Bold"/>
                </a:rPr>
                <a:t> </a:t>
              </a:r>
              <a:r>
                <a:rPr lang="en-US" sz="5400" dirty="0" err="1">
                  <a:solidFill>
                    <a:srgbClr val="FFFFFF"/>
                  </a:solidFill>
                  <a:latin typeface="DM Sans Bold"/>
                </a:rPr>
                <a:t>llamada</a:t>
              </a:r>
              <a:r>
                <a:rPr lang="en-US" sz="5400" dirty="0">
                  <a:solidFill>
                    <a:srgbClr val="FFFFFF"/>
                  </a:solidFill>
                  <a:latin typeface="DM Sans Bold"/>
                </a:rPr>
                <a:t> API Request.</a:t>
              </a:r>
              <a:endParaRPr lang="en-US" sz="5400" dirty="0">
                <a:solidFill>
                  <a:srgbClr val="FFFFFF"/>
                </a:solidFill>
                <a:latin typeface="DM Sans Bold"/>
              </a:endParaRPr>
            </a:p>
          </p:txBody>
        </p:sp>
      </p:grpSp>
      <p:pic>
        <p:nvPicPr>
          <p:cNvPr id="10" name="Picture 9" descr="rest_request (1)"/>
          <p:cNvPicPr>
            <a:picLocks noGrp="1" noChangeAspect="1"/>
          </p:cNvPicPr>
          <p:nvPr isPhoto="1"/>
        </p:nvPicPr>
        <p:blipFill>
          <a:blip r:embed="rId1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3695700"/>
            <a:ext cx="13944600" cy="6039029"/>
          </a:xfrm>
          <a:prstGeom prst="rect">
            <a:avLst/>
          </a:prstGeom>
        </p:spPr>
      </p:pic>
    </p:spTree>
  </p:cSld>
  <p:clrMapOvr>
    <a:masterClrMapping/>
  </p:clrMapOvr>
  <p:transition>
    <p:cover dir="r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14600" y="190500"/>
            <a:ext cx="14082232" cy="3033735"/>
            <a:chOff x="0" y="-123825"/>
            <a:chExt cx="1556551" cy="4011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56551" cy="277306"/>
            </a:xfrm>
            <a:custGeom>
              <a:avLst/>
              <a:gdLst/>
              <a:ahLst/>
              <a:cxnLst/>
              <a:rect l="l" t="t" r="r" b="b"/>
              <a:pathLst>
                <a:path w="1556551" h="277306">
                  <a:moveTo>
                    <a:pt x="97735" y="0"/>
                  </a:moveTo>
                  <a:lnTo>
                    <a:pt x="1458816" y="0"/>
                  </a:lnTo>
                  <a:cubicBezTo>
                    <a:pt x="1512794" y="0"/>
                    <a:pt x="1556551" y="43758"/>
                    <a:pt x="1556551" y="97735"/>
                  </a:cubicBezTo>
                  <a:lnTo>
                    <a:pt x="1556551" y="179571"/>
                  </a:lnTo>
                  <a:cubicBezTo>
                    <a:pt x="1556551" y="205492"/>
                    <a:pt x="1546254" y="230351"/>
                    <a:pt x="1527925" y="248680"/>
                  </a:cubicBezTo>
                  <a:cubicBezTo>
                    <a:pt x="1509596" y="267009"/>
                    <a:pt x="1484737" y="277306"/>
                    <a:pt x="1458816" y="277306"/>
                  </a:cubicBezTo>
                  <a:lnTo>
                    <a:pt x="97735" y="277306"/>
                  </a:lnTo>
                  <a:cubicBezTo>
                    <a:pt x="71814" y="277306"/>
                    <a:pt x="46955" y="267009"/>
                    <a:pt x="28626" y="248680"/>
                  </a:cubicBezTo>
                  <a:cubicBezTo>
                    <a:pt x="10297" y="230351"/>
                    <a:pt x="0" y="205492"/>
                    <a:pt x="0" y="179571"/>
                  </a:cubicBezTo>
                  <a:lnTo>
                    <a:pt x="0" y="97735"/>
                  </a:lnTo>
                  <a:cubicBezTo>
                    <a:pt x="0" y="71814"/>
                    <a:pt x="10297" y="46955"/>
                    <a:pt x="28626" y="28626"/>
                  </a:cubicBezTo>
                  <a:cubicBezTo>
                    <a:pt x="46955" y="10297"/>
                    <a:pt x="71814" y="0"/>
                    <a:pt x="97735" y="0"/>
                  </a:cubicBezTo>
                  <a:close/>
                </a:path>
              </a:pathLst>
            </a:custGeom>
            <a:solidFill>
              <a:srgbClr val="3AB85C"/>
            </a:solidFill>
          </p:spPr>
          <p:txBody>
            <a:bodyPr/>
            <a:lstStyle/>
            <a:p>
              <a:endParaRPr lang="es-CR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1556551" cy="401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8960"/>
                </a:lnSpc>
              </a:pPr>
              <a:r>
                <a:rPr lang="en-US" sz="5400" dirty="0" err="1">
                  <a:solidFill>
                    <a:srgbClr val="FFFFFF"/>
                  </a:solidFill>
                  <a:latin typeface="DM Sans Bold"/>
                </a:rPr>
                <a:t>Estructura</a:t>
              </a:r>
              <a:r>
                <a:rPr lang="en-US" sz="5400" dirty="0">
                  <a:solidFill>
                    <a:srgbClr val="FFFFFF"/>
                  </a:solidFill>
                  <a:latin typeface="DM Sans Bold"/>
                </a:rPr>
                <a:t> de </a:t>
              </a:r>
              <a:r>
                <a:rPr lang="en-US" sz="5400" dirty="0" err="1">
                  <a:solidFill>
                    <a:srgbClr val="FFFFFF"/>
                  </a:solidFill>
                  <a:latin typeface="DM Sans Bold"/>
                </a:rPr>
                <a:t>una</a:t>
              </a:r>
              <a:r>
                <a:rPr lang="en-US" sz="5400" dirty="0">
                  <a:solidFill>
                    <a:srgbClr val="FFFFFF"/>
                  </a:solidFill>
                  <a:latin typeface="DM Sans Bold"/>
                </a:rPr>
                <a:t> </a:t>
              </a:r>
              <a:r>
                <a:rPr lang="en-US" sz="5400" dirty="0" err="1">
                  <a:solidFill>
                    <a:srgbClr val="FFFFFF"/>
                  </a:solidFill>
                  <a:latin typeface="DM Sans Bold"/>
                </a:rPr>
                <a:t>llamada</a:t>
              </a:r>
              <a:r>
                <a:rPr lang="en-US" sz="5400" dirty="0">
                  <a:solidFill>
                    <a:srgbClr val="FFFFFF"/>
                  </a:solidFill>
                  <a:latin typeface="DM Sans Bold"/>
                </a:rPr>
                <a:t> API Request.</a:t>
              </a:r>
              <a:endParaRPr lang="en-US" sz="5400" dirty="0">
                <a:solidFill>
                  <a:srgbClr val="FFFFFF"/>
                </a:solidFill>
                <a:latin typeface="DM Sans Bold"/>
              </a:endParaRPr>
            </a:p>
          </p:txBody>
        </p:sp>
      </p:grp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1600" y="3683142"/>
            <a:ext cx="8277225" cy="5476875"/>
          </a:xfrm>
          <a:prstGeom prst="rect">
            <a:avLst/>
          </a:prstGeom>
        </p:spPr>
      </p:pic>
    </p:spTree>
  </p:cSld>
  <p:clrMapOvr>
    <a:masterClrMapping/>
  </p:clrMapOvr>
  <p:transition>
    <p:cover dir="r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600" y="647700"/>
            <a:ext cx="12420600" cy="8058718"/>
          </a:xfrm>
          <a:prstGeom prst="rect">
            <a:avLst/>
          </a:prstGeom>
        </p:spPr>
      </p:pic>
    </p:spTree>
  </p:cSld>
  <p:clrMapOvr>
    <a:masterClrMapping/>
  </p:clrMapOvr>
  <p:transition>
    <p:cover dir="r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467371" y="5166598"/>
            <a:ext cx="7791929" cy="953681"/>
            <a:chOff x="0" y="0"/>
            <a:chExt cx="2204989" cy="2698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04989" cy="269876"/>
            </a:xfrm>
            <a:custGeom>
              <a:avLst/>
              <a:gdLst/>
              <a:ahLst/>
              <a:cxnLst/>
              <a:rect l="l" t="t" r="r" b="b"/>
              <a:pathLst>
                <a:path w="2204989" h="269876">
                  <a:moveTo>
                    <a:pt x="93397" y="0"/>
                  </a:moveTo>
                  <a:lnTo>
                    <a:pt x="2111592" y="0"/>
                  </a:lnTo>
                  <a:cubicBezTo>
                    <a:pt x="2163174" y="0"/>
                    <a:pt x="2204989" y="41815"/>
                    <a:pt x="2204989" y="93397"/>
                  </a:cubicBezTo>
                  <a:lnTo>
                    <a:pt x="2204989" y="176479"/>
                  </a:lnTo>
                  <a:cubicBezTo>
                    <a:pt x="2204989" y="201250"/>
                    <a:pt x="2195149" y="225006"/>
                    <a:pt x="2177634" y="242521"/>
                  </a:cubicBezTo>
                  <a:cubicBezTo>
                    <a:pt x="2160119" y="260036"/>
                    <a:pt x="2136363" y="269876"/>
                    <a:pt x="2111592" y="269876"/>
                  </a:cubicBezTo>
                  <a:lnTo>
                    <a:pt x="93397" y="269876"/>
                  </a:lnTo>
                  <a:cubicBezTo>
                    <a:pt x="68626" y="269876"/>
                    <a:pt x="44871" y="260036"/>
                    <a:pt x="27355" y="242521"/>
                  </a:cubicBezTo>
                  <a:cubicBezTo>
                    <a:pt x="9840" y="225006"/>
                    <a:pt x="0" y="201250"/>
                    <a:pt x="0" y="176479"/>
                  </a:cubicBezTo>
                  <a:lnTo>
                    <a:pt x="0" y="93397"/>
                  </a:lnTo>
                  <a:cubicBezTo>
                    <a:pt x="0" y="68626"/>
                    <a:pt x="9840" y="44871"/>
                    <a:pt x="27355" y="27355"/>
                  </a:cubicBezTo>
                  <a:cubicBezTo>
                    <a:pt x="44871" y="9840"/>
                    <a:pt x="68626" y="0"/>
                    <a:pt x="93397" y="0"/>
                  </a:cubicBezTo>
                  <a:close/>
                </a:path>
              </a:pathLst>
            </a:custGeom>
            <a:solidFill>
              <a:srgbClr val="FFB001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2204989" cy="3365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80"/>
                </a:lnSpc>
              </a:pPr>
              <a:r>
                <a:rPr lang="en-US" sz="3200" spc="128">
                  <a:solidFill>
                    <a:srgbClr val="FFFFFF"/>
                  </a:solidFill>
                  <a:latin typeface="DM Sans Bold"/>
                </a:rPr>
                <a:t>APIS PUBLICAS Y PRIVADAS</a:t>
              </a:r>
              <a:endParaRPr lang="en-US" sz="3200" spc="128">
                <a:solidFill>
                  <a:srgbClr val="FFFFFF"/>
                </a:solidFill>
                <a:latin typeface="DM Sans Bold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3191948"/>
            <a:ext cx="7210265" cy="4902980"/>
          </a:xfrm>
          <a:custGeom>
            <a:avLst/>
            <a:gdLst/>
            <a:ahLst/>
            <a:cxnLst/>
            <a:rect l="l" t="t" r="r" b="b"/>
            <a:pathLst>
              <a:path w="7210265" h="4902980">
                <a:moveTo>
                  <a:pt x="0" y="0"/>
                </a:moveTo>
                <a:lnTo>
                  <a:pt x="7210265" y="0"/>
                </a:lnTo>
                <a:lnTo>
                  <a:pt x="7210265" y="4902980"/>
                </a:lnTo>
                <a:lnTo>
                  <a:pt x="0" y="490298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144000" y="4380182"/>
            <a:ext cx="8374856" cy="1395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55"/>
              </a:lnSpc>
            </a:pPr>
            <a:r>
              <a:rPr lang="en-US" sz="4040" spc="-121">
                <a:solidFill>
                  <a:srgbClr val="000000"/>
                </a:solidFill>
                <a:latin typeface="DM Sans Bold"/>
              </a:rPr>
              <a:t>¿Qué es la Autenticación en APIs?</a:t>
            </a:r>
            <a:endParaRPr lang="en-US" sz="4040" spc="-121">
              <a:solidFill>
                <a:srgbClr val="000000"/>
              </a:solidFill>
              <a:latin typeface="DM Sans Bold"/>
            </a:endParaRPr>
          </a:p>
          <a:p>
            <a:pPr algn="l">
              <a:lnSpc>
                <a:spcPts val="3555"/>
              </a:lnSpc>
            </a:pPr>
            <a:endParaRPr lang="en-US" sz="4040" spc="-121">
              <a:solidFill>
                <a:srgbClr val="000000"/>
              </a:solidFill>
              <a:latin typeface="DM Sans Bold"/>
            </a:endParaRPr>
          </a:p>
          <a:p>
            <a:pPr algn="l">
              <a:lnSpc>
                <a:spcPts val="3555"/>
              </a:lnSpc>
            </a:pPr>
            <a:endParaRPr lang="en-US" sz="4040" spc="-121">
              <a:solidFill>
                <a:srgbClr val="000000"/>
              </a:solidFill>
              <a:latin typeface="DM Sans Bold"/>
            </a:endParaRPr>
          </a:p>
        </p:txBody>
      </p:sp>
    </p:spTree>
  </p:cSld>
  <p:clrMapOvr>
    <a:masterClrMapping/>
  </p:clrMapOvr>
  <p:transition>
    <p:cover dir="r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898439" y="739849"/>
            <a:ext cx="7446042" cy="1326542"/>
            <a:chOff x="0" y="0"/>
            <a:chExt cx="1556551" cy="2773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56551" cy="277306"/>
            </a:xfrm>
            <a:custGeom>
              <a:avLst/>
              <a:gdLst/>
              <a:ahLst/>
              <a:cxnLst/>
              <a:rect l="l" t="t" r="r" b="b"/>
              <a:pathLst>
                <a:path w="1556551" h="277306">
                  <a:moveTo>
                    <a:pt x="97735" y="0"/>
                  </a:moveTo>
                  <a:lnTo>
                    <a:pt x="1458816" y="0"/>
                  </a:lnTo>
                  <a:cubicBezTo>
                    <a:pt x="1512794" y="0"/>
                    <a:pt x="1556551" y="43758"/>
                    <a:pt x="1556551" y="97735"/>
                  </a:cubicBezTo>
                  <a:lnTo>
                    <a:pt x="1556551" y="179571"/>
                  </a:lnTo>
                  <a:cubicBezTo>
                    <a:pt x="1556551" y="205492"/>
                    <a:pt x="1546254" y="230351"/>
                    <a:pt x="1527925" y="248680"/>
                  </a:cubicBezTo>
                  <a:cubicBezTo>
                    <a:pt x="1509596" y="267009"/>
                    <a:pt x="1484737" y="277306"/>
                    <a:pt x="1458816" y="277306"/>
                  </a:cubicBezTo>
                  <a:lnTo>
                    <a:pt x="97735" y="277306"/>
                  </a:lnTo>
                  <a:cubicBezTo>
                    <a:pt x="71814" y="277306"/>
                    <a:pt x="46955" y="267009"/>
                    <a:pt x="28626" y="248680"/>
                  </a:cubicBezTo>
                  <a:cubicBezTo>
                    <a:pt x="10297" y="230351"/>
                    <a:pt x="0" y="205492"/>
                    <a:pt x="0" y="179571"/>
                  </a:cubicBezTo>
                  <a:lnTo>
                    <a:pt x="0" y="97735"/>
                  </a:lnTo>
                  <a:cubicBezTo>
                    <a:pt x="0" y="71814"/>
                    <a:pt x="10297" y="46955"/>
                    <a:pt x="28626" y="28626"/>
                  </a:cubicBezTo>
                  <a:cubicBezTo>
                    <a:pt x="46955" y="10297"/>
                    <a:pt x="71814" y="0"/>
                    <a:pt x="97735" y="0"/>
                  </a:cubicBezTo>
                  <a:close/>
                </a:path>
              </a:pathLst>
            </a:custGeom>
            <a:solidFill>
              <a:srgbClr val="3AB85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1556551" cy="401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8960"/>
                </a:lnSpc>
              </a:pPr>
              <a:r>
                <a:rPr lang="en-US" sz="6400">
                  <a:solidFill>
                    <a:srgbClr val="FFFFFF"/>
                  </a:solidFill>
                  <a:latin typeface="DM Sans Bold"/>
                </a:rPr>
                <a:t>autenticación </a:t>
              </a:r>
              <a:endParaRPr lang="en-US" sz="6400">
                <a:solidFill>
                  <a:srgbClr val="FFFFFF"/>
                </a:solidFill>
                <a:latin typeface="DM Sans Bold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13813713" y="9396516"/>
            <a:ext cx="360020" cy="170191"/>
          </a:xfrm>
          <a:custGeom>
            <a:avLst/>
            <a:gdLst/>
            <a:ahLst/>
            <a:cxnLst/>
            <a:rect l="l" t="t" r="r" b="b"/>
            <a:pathLst>
              <a:path w="360020" h="170191">
                <a:moveTo>
                  <a:pt x="0" y="0"/>
                </a:moveTo>
                <a:lnTo>
                  <a:pt x="360020" y="0"/>
                </a:lnTo>
                <a:lnTo>
                  <a:pt x="360020" y="170191"/>
                </a:lnTo>
                <a:lnTo>
                  <a:pt x="0" y="170191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28700" y="2531551"/>
            <a:ext cx="5995795" cy="5995795"/>
          </a:xfrm>
          <a:custGeom>
            <a:avLst/>
            <a:gdLst/>
            <a:ahLst/>
            <a:cxnLst/>
            <a:rect l="l" t="t" r="r" b="b"/>
            <a:pathLst>
              <a:path w="5995795" h="5995795">
                <a:moveTo>
                  <a:pt x="0" y="0"/>
                </a:moveTo>
                <a:lnTo>
                  <a:pt x="5995795" y="0"/>
                </a:lnTo>
                <a:lnTo>
                  <a:pt x="5995795" y="5995794"/>
                </a:lnTo>
                <a:lnTo>
                  <a:pt x="0" y="5995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8132061" y="2212713"/>
            <a:ext cx="8770979" cy="3919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0" lvl="1" indent="-34544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3200">
                <a:solidFill>
                  <a:srgbClr val="000000"/>
                </a:solidFill>
                <a:latin typeface="DM Sans"/>
              </a:rPr>
              <a:t>Proceso de verificacion de identidad de un usuario o una aplicación que está tratando de acceder a los recursos de la API.</a:t>
            </a:r>
            <a:endParaRPr lang="en-US" sz="3200">
              <a:solidFill>
                <a:srgbClr val="000000"/>
              </a:solidFill>
              <a:latin typeface="DM Sans"/>
            </a:endParaRPr>
          </a:p>
          <a:p>
            <a:pPr marL="690880" lvl="1" indent="-345440" algn="l">
              <a:lnSpc>
                <a:spcPts val="4480"/>
              </a:lnSpc>
              <a:buFont typeface="Arial" panose="020B0604020202020204"/>
              <a:buChar char="•"/>
            </a:pPr>
            <a:endParaRPr lang="en-US" sz="3200">
              <a:solidFill>
                <a:srgbClr val="000000"/>
              </a:solidFill>
              <a:latin typeface="DM Sans"/>
            </a:endParaRPr>
          </a:p>
          <a:p>
            <a:pPr marL="690880" lvl="1" indent="-34544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3200">
                <a:solidFill>
                  <a:srgbClr val="000000"/>
                </a:solidFill>
                <a:latin typeface="DM Sans"/>
              </a:rPr>
              <a:t>Por ejemplo el guarda en un bar que solo deja entrar a personas que tienen una entrada.</a:t>
            </a:r>
            <a:endParaRPr lang="en-US" sz="3200">
              <a:solidFill>
                <a:srgbClr val="000000"/>
              </a:solidFill>
              <a:latin typeface="DM Sans"/>
            </a:endParaRPr>
          </a:p>
        </p:txBody>
      </p:sp>
    </p:spTree>
  </p:cSld>
  <p:clrMapOvr>
    <a:masterClrMapping/>
  </p:clrMapOvr>
  <p:transition>
    <p:cover dir="r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898439" y="739849"/>
            <a:ext cx="7446042" cy="1326542"/>
            <a:chOff x="0" y="0"/>
            <a:chExt cx="1556551" cy="2773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56551" cy="277306"/>
            </a:xfrm>
            <a:custGeom>
              <a:avLst/>
              <a:gdLst/>
              <a:ahLst/>
              <a:cxnLst/>
              <a:rect l="l" t="t" r="r" b="b"/>
              <a:pathLst>
                <a:path w="1556551" h="277306">
                  <a:moveTo>
                    <a:pt x="97735" y="0"/>
                  </a:moveTo>
                  <a:lnTo>
                    <a:pt x="1458816" y="0"/>
                  </a:lnTo>
                  <a:cubicBezTo>
                    <a:pt x="1512794" y="0"/>
                    <a:pt x="1556551" y="43758"/>
                    <a:pt x="1556551" y="97735"/>
                  </a:cubicBezTo>
                  <a:lnTo>
                    <a:pt x="1556551" y="179571"/>
                  </a:lnTo>
                  <a:cubicBezTo>
                    <a:pt x="1556551" y="205492"/>
                    <a:pt x="1546254" y="230351"/>
                    <a:pt x="1527925" y="248680"/>
                  </a:cubicBezTo>
                  <a:cubicBezTo>
                    <a:pt x="1509596" y="267009"/>
                    <a:pt x="1484737" y="277306"/>
                    <a:pt x="1458816" y="277306"/>
                  </a:cubicBezTo>
                  <a:lnTo>
                    <a:pt x="97735" y="277306"/>
                  </a:lnTo>
                  <a:cubicBezTo>
                    <a:pt x="71814" y="277306"/>
                    <a:pt x="46955" y="267009"/>
                    <a:pt x="28626" y="248680"/>
                  </a:cubicBezTo>
                  <a:cubicBezTo>
                    <a:pt x="10297" y="230351"/>
                    <a:pt x="0" y="205492"/>
                    <a:pt x="0" y="179571"/>
                  </a:cubicBezTo>
                  <a:lnTo>
                    <a:pt x="0" y="97735"/>
                  </a:lnTo>
                  <a:cubicBezTo>
                    <a:pt x="0" y="71814"/>
                    <a:pt x="10297" y="46955"/>
                    <a:pt x="28626" y="28626"/>
                  </a:cubicBezTo>
                  <a:cubicBezTo>
                    <a:pt x="46955" y="10297"/>
                    <a:pt x="71814" y="0"/>
                    <a:pt x="97735" y="0"/>
                  </a:cubicBezTo>
                  <a:close/>
                </a:path>
              </a:pathLst>
            </a:custGeom>
            <a:solidFill>
              <a:srgbClr val="3AB85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1556551" cy="401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8960"/>
                </a:lnSpc>
              </a:pPr>
              <a:r>
                <a:rPr lang="en-US" sz="6400">
                  <a:solidFill>
                    <a:srgbClr val="FFFFFF"/>
                  </a:solidFill>
                  <a:latin typeface="DM Sans Bold"/>
                </a:rPr>
                <a:t>Importancia</a:t>
              </a:r>
              <a:endParaRPr lang="en-US" sz="6400">
                <a:solidFill>
                  <a:srgbClr val="FFFFFF"/>
                </a:solidFill>
                <a:latin typeface="DM Sans Bold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13813713" y="9396516"/>
            <a:ext cx="360020" cy="170191"/>
          </a:xfrm>
          <a:custGeom>
            <a:avLst/>
            <a:gdLst/>
            <a:ahLst/>
            <a:cxnLst/>
            <a:rect l="l" t="t" r="r" b="b"/>
            <a:pathLst>
              <a:path w="360020" h="170191">
                <a:moveTo>
                  <a:pt x="0" y="0"/>
                </a:moveTo>
                <a:lnTo>
                  <a:pt x="360020" y="0"/>
                </a:lnTo>
                <a:lnTo>
                  <a:pt x="360020" y="170191"/>
                </a:lnTo>
                <a:lnTo>
                  <a:pt x="0" y="170191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12421" y="3871209"/>
            <a:ext cx="6445449" cy="3179755"/>
          </a:xfrm>
          <a:custGeom>
            <a:avLst/>
            <a:gdLst/>
            <a:ahLst/>
            <a:cxnLst/>
            <a:rect l="l" t="t" r="r" b="b"/>
            <a:pathLst>
              <a:path w="6445449" h="3179755">
                <a:moveTo>
                  <a:pt x="0" y="0"/>
                </a:moveTo>
                <a:lnTo>
                  <a:pt x="6445450" y="0"/>
                </a:lnTo>
                <a:lnTo>
                  <a:pt x="6445450" y="3179755"/>
                </a:lnTo>
                <a:lnTo>
                  <a:pt x="0" y="31797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8132061" y="2212713"/>
            <a:ext cx="8770979" cy="7853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0" lvl="1" indent="-34544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3200">
                <a:solidFill>
                  <a:srgbClr val="000000"/>
                </a:solidFill>
                <a:latin typeface="DM Sans Bold"/>
              </a:rPr>
              <a:t>Seguridad</a:t>
            </a:r>
            <a:r>
              <a:rPr lang="en-US" sz="3200">
                <a:solidFill>
                  <a:srgbClr val="000000"/>
                </a:solidFill>
                <a:latin typeface="DM Sans"/>
              </a:rPr>
              <a:t>: Protege los datos y recursos sensibles de accesos no autorizados..</a:t>
            </a:r>
            <a:endParaRPr lang="en-US" sz="3200">
              <a:solidFill>
                <a:srgbClr val="000000"/>
              </a:solidFill>
              <a:latin typeface="DM Sans"/>
            </a:endParaRPr>
          </a:p>
          <a:p>
            <a:pPr algn="l">
              <a:lnSpc>
                <a:spcPts val="4480"/>
              </a:lnSpc>
            </a:pPr>
            <a:endParaRPr lang="en-US" sz="3200">
              <a:solidFill>
                <a:srgbClr val="000000"/>
              </a:solidFill>
              <a:latin typeface="DM Sans"/>
            </a:endParaRPr>
          </a:p>
          <a:p>
            <a:pPr marL="690880" lvl="1" indent="-34544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3200">
                <a:solidFill>
                  <a:srgbClr val="000000"/>
                </a:solidFill>
                <a:latin typeface="DM Sans Bold"/>
              </a:rPr>
              <a:t>Control de Acceso</a:t>
            </a:r>
            <a:r>
              <a:rPr lang="en-US" sz="3200">
                <a:solidFill>
                  <a:srgbClr val="000000"/>
                </a:solidFill>
                <a:latin typeface="DM Sans"/>
              </a:rPr>
              <a:t>: Permite a la API saber quién está haciendo la solicitud y qué permisos tienen.</a:t>
            </a:r>
            <a:endParaRPr lang="en-US" sz="3200">
              <a:solidFill>
                <a:srgbClr val="000000"/>
              </a:solidFill>
              <a:latin typeface="DM Sans"/>
            </a:endParaRPr>
          </a:p>
          <a:p>
            <a:pPr algn="l">
              <a:lnSpc>
                <a:spcPts val="4480"/>
              </a:lnSpc>
            </a:pPr>
            <a:endParaRPr lang="en-US" sz="3200">
              <a:solidFill>
                <a:srgbClr val="000000"/>
              </a:solidFill>
              <a:latin typeface="DM Sans"/>
            </a:endParaRPr>
          </a:p>
          <a:p>
            <a:pPr marL="690880" lvl="1" indent="-34544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3200">
                <a:solidFill>
                  <a:srgbClr val="000000"/>
                </a:solidFill>
                <a:latin typeface="DM Sans Bold"/>
              </a:rPr>
              <a:t>Seguimiento</a:t>
            </a:r>
            <a:r>
              <a:rPr lang="en-US" sz="3200">
                <a:solidFill>
                  <a:srgbClr val="000000"/>
                </a:solidFill>
                <a:latin typeface="DM Sans"/>
              </a:rPr>
              <a:t>: Facilita el registro y monitoreo de cómo se utiliza la API.</a:t>
            </a:r>
            <a:endParaRPr lang="en-US" sz="3200">
              <a:solidFill>
                <a:srgbClr val="000000"/>
              </a:solidFill>
              <a:latin typeface="DM Sans"/>
            </a:endParaRPr>
          </a:p>
          <a:p>
            <a:pPr algn="l">
              <a:lnSpc>
                <a:spcPts val="4480"/>
              </a:lnSpc>
            </a:pPr>
            <a:endParaRPr lang="en-US" sz="3200">
              <a:solidFill>
                <a:srgbClr val="000000"/>
              </a:solidFill>
              <a:latin typeface="DM Sans"/>
            </a:endParaRPr>
          </a:p>
          <a:p>
            <a:pPr marL="690880" lvl="1" indent="-34544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3200">
                <a:solidFill>
                  <a:srgbClr val="000000"/>
                </a:solidFill>
                <a:latin typeface="DM Sans"/>
              </a:rPr>
              <a:t>Toma de deciciones del uso y exposion de datos.</a:t>
            </a:r>
            <a:endParaRPr lang="en-US" sz="3200">
              <a:solidFill>
                <a:srgbClr val="000000"/>
              </a:solidFill>
              <a:latin typeface="DM Sans"/>
            </a:endParaRPr>
          </a:p>
          <a:p>
            <a:pPr algn="l">
              <a:lnSpc>
                <a:spcPts val="4480"/>
              </a:lnSpc>
            </a:pPr>
            <a:endParaRPr lang="en-US" sz="3200">
              <a:solidFill>
                <a:srgbClr val="000000"/>
              </a:solidFill>
              <a:latin typeface="DM Sans"/>
            </a:endParaRPr>
          </a:p>
          <a:p>
            <a:pPr algn="l">
              <a:lnSpc>
                <a:spcPts val="4480"/>
              </a:lnSpc>
            </a:pPr>
            <a:endParaRPr lang="en-US" sz="3200">
              <a:solidFill>
                <a:srgbClr val="000000"/>
              </a:solidFill>
              <a:latin typeface="DM Sans"/>
            </a:endParaRPr>
          </a:p>
        </p:txBody>
      </p:sp>
    </p:spTree>
  </p:cSld>
  <p:clrMapOvr>
    <a:masterClrMapping/>
  </p:clrMapOvr>
  <p:transition>
    <p:cover dir="r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65659" y="593766"/>
            <a:ext cx="9414796" cy="2254900"/>
            <a:chOff x="0" y="0"/>
            <a:chExt cx="1968108" cy="4713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68108" cy="471374"/>
            </a:xfrm>
            <a:custGeom>
              <a:avLst/>
              <a:gdLst/>
              <a:ahLst/>
              <a:cxnLst/>
              <a:rect l="l" t="t" r="r" b="b"/>
              <a:pathLst>
                <a:path w="1968108" h="471374">
                  <a:moveTo>
                    <a:pt x="77298" y="0"/>
                  </a:moveTo>
                  <a:lnTo>
                    <a:pt x="1890810" y="0"/>
                  </a:lnTo>
                  <a:cubicBezTo>
                    <a:pt x="1933500" y="0"/>
                    <a:pt x="1968108" y="34607"/>
                    <a:pt x="1968108" y="77298"/>
                  </a:cubicBezTo>
                  <a:lnTo>
                    <a:pt x="1968108" y="394076"/>
                  </a:lnTo>
                  <a:cubicBezTo>
                    <a:pt x="1968108" y="414577"/>
                    <a:pt x="1959964" y="434237"/>
                    <a:pt x="1945468" y="448734"/>
                  </a:cubicBezTo>
                  <a:cubicBezTo>
                    <a:pt x="1930971" y="463230"/>
                    <a:pt x="1911311" y="471374"/>
                    <a:pt x="1890810" y="471374"/>
                  </a:cubicBezTo>
                  <a:lnTo>
                    <a:pt x="77298" y="471374"/>
                  </a:lnTo>
                  <a:cubicBezTo>
                    <a:pt x="34607" y="471374"/>
                    <a:pt x="0" y="436766"/>
                    <a:pt x="0" y="394076"/>
                  </a:cubicBezTo>
                  <a:lnTo>
                    <a:pt x="0" y="77298"/>
                  </a:lnTo>
                  <a:cubicBezTo>
                    <a:pt x="0" y="34607"/>
                    <a:pt x="34607" y="0"/>
                    <a:pt x="77298" y="0"/>
                  </a:cubicBezTo>
                  <a:close/>
                </a:path>
              </a:pathLst>
            </a:custGeom>
            <a:solidFill>
              <a:srgbClr val="3AB85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14300"/>
              <a:ext cx="1968108" cy="5856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8260"/>
                </a:lnSpc>
              </a:pPr>
              <a:r>
                <a:rPr lang="en-US" sz="5900">
                  <a:solidFill>
                    <a:srgbClr val="FFFFFF"/>
                  </a:solidFill>
                  <a:latin typeface="DM Sans Bold"/>
                </a:rPr>
                <a:t>Métodos Comunes de Autenticación</a:t>
              </a:r>
              <a:endParaRPr lang="en-US" sz="5900">
                <a:solidFill>
                  <a:srgbClr val="FFFFFF"/>
                </a:solidFill>
                <a:latin typeface="DM Sans Bold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13813713" y="9396516"/>
            <a:ext cx="360020" cy="170191"/>
          </a:xfrm>
          <a:custGeom>
            <a:avLst/>
            <a:gdLst/>
            <a:ahLst/>
            <a:cxnLst/>
            <a:rect l="l" t="t" r="r" b="b"/>
            <a:pathLst>
              <a:path w="360020" h="170191">
                <a:moveTo>
                  <a:pt x="0" y="0"/>
                </a:moveTo>
                <a:lnTo>
                  <a:pt x="360020" y="0"/>
                </a:lnTo>
                <a:lnTo>
                  <a:pt x="360020" y="170191"/>
                </a:lnTo>
                <a:lnTo>
                  <a:pt x="0" y="170191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60471" y="3647276"/>
            <a:ext cx="7471591" cy="4623568"/>
          </a:xfrm>
          <a:custGeom>
            <a:avLst/>
            <a:gdLst/>
            <a:ahLst/>
            <a:cxnLst/>
            <a:rect l="l" t="t" r="r" b="b"/>
            <a:pathLst>
              <a:path w="7471591" h="4623568">
                <a:moveTo>
                  <a:pt x="0" y="0"/>
                </a:moveTo>
                <a:lnTo>
                  <a:pt x="7471590" y="0"/>
                </a:lnTo>
                <a:lnTo>
                  <a:pt x="7471590" y="4623568"/>
                </a:lnTo>
                <a:lnTo>
                  <a:pt x="0" y="46235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9037555" y="3314492"/>
            <a:ext cx="8770979" cy="6167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0" lvl="1" indent="-34544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3200">
                <a:solidFill>
                  <a:srgbClr val="000000"/>
                </a:solidFill>
                <a:latin typeface="DM Sans Bold"/>
              </a:rPr>
              <a:t>API Key:</a:t>
            </a:r>
            <a:r>
              <a:rPr lang="en-US" sz="3200">
                <a:solidFill>
                  <a:srgbClr val="000000"/>
                </a:solidFill>
                <a:latin typeface="DM Sans"/>
              </a:rPr>
              <a:t> Clave única enviada en cada solicitud.</a:t>
            </a:r>
            <a:endParaRPr lang="en-US" sz="3200">
              <a:solidFill>
                <a:srgbClr val="000000"/>
              </a:solidFill>
              <a:latin typeface="DM Sans"/>
            </a:endParaRPr>
          </a:p>
          <a:p>
            <a:pPr algn="l">
              <a:lnSpc>
                <a:spcPts val="4480"/>
              </a:lnSpc>
            </a:pPr>
            <a:endParaRPr lang="en-US" sz="3200">
              <a:solidFill>
                <a:srgbClr val="000000"/>
              </a:solidFill>
              <a:latin typeface="DM Sans"/>
            </a:endParaRPr>
          </a:p>
          <a:p>
            <a:pPr marL="690880" lvl="1" indent="-34544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3200">
                <a:solidFill>
                  <a:srgbClr val="000000"/>
                </a:solidFill>
                <a:latin typeface="DM Sans Bold"/>
              </a:rPr>
              <a:t>Basic Auth: </a:t>
            </a:r>
            <a:r>
              <a:rPr lang="en-US" sz="3200">
                <a:solidFill>
                  <a:srgbClr val="000000"/>
                </a:solidFill>
                <a:latin typeface="DM Sans"/>
              </a:rPr>
              <a:t>Nombre de usuario y contraseña codificados en los encabezados de la solicitud.</a:t>
            </a:r>
            <a:endParaRPr lang="en-US" sz="3200">
              <a:solidFill>
                <a:srgbClr val="000000"/>
              </a:solidFill>
              <a:latin typeface="DM Sans"/>
            </a:endParaRPr>
          </a:p>
          <a:p>
            <a:pPr algn="l">
              <a:lnSpc>
                <a:spcPts val="4480"/>
              </a:lnSpc>
            </a:pPr>
            <a:endParaRPr lang="en-US" sz="3200">
              <a:solidFill>
                <a:srgbClr val="000000"/>
              </a:solidFill>
              <a:latin typeface="DM Sans"/>
            </a:endParaRPr>
          </a:p>
          <a:p>
            <a:pPr marL="690880" lvl="1" indent="-34544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3200">
                <a:solidFill>
                  <a:srgbClr val="000000"/>
                </a:solidFill>
                <a:latin typeface="DM Sans Bold"/>
              </a:rPr>
              <a:t>OAuth: </a:t>
            </a:r>
            <a:r>
              <a:rPr lang="en-US" sz="3200">
                <a:solidFill>
                  <a:srgbClr val="000000"/>
                </a:solidFill>
                <a:latin typeface="DM Sans"/>
              </a:rPr>
              <a:t>Protocolo de autorización más seguro que usa tokens para acceso limitado.</a:t>
            </a:r>
            <a:endParaRPr lang="en-US" sz="3200">
              <a:solidFill>
                <a:srgbClr val="000000"/>
              </a:solidFill>
              <a:latin typeface="DM Sans"/>
            </a:endParaRPr>
          </a:p>
          <a:p>
            <a:pPr algn="l">
              <a:lnSpc>
                <a:spcPts val="4480"/>
              </a:lnSpc>
            </a:pPr>
            <a:endParaRPr lang="en-US" sz="3200">
              <a:solidFill>
                <a:srgbClr val="000000"/>
              </a:solidFill>
              <a:latin typeface="DM Sans"/>
            </a:endParaRPr>
          </a:p>
        </p:txBody>
      </p:sp>
    </p:spTree>
  </p:cSld>
  <p:clrMapOvr>
    <a:masterClrMapping/>
  </p:clrMapOvr>
  <p:transition>
    <p:cover dir="r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65659" y="593766"/>
            <a:ext cx="9414796" cy="2254900"/>
            <a:chOff x="0" y="0"/>
            <a:chExt cx="1968108" cy="4713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68108" cy="471374"/>
            </a:xfrm>
            <a:custGeom>
              <a:avLst/>
              <a:gdLst/>
              <a:ahLst/>
              <a:cxnLst/>
              <a:rect l="l" t="t" r="r" b="b"/>
              <a:pathLst>
                <a:path w="1968108" h="471374">
                  <a:moveTo>
                    <a:pt x="77298" y="0"/>
                  </a:moveTo>
                  <a:lnTo>
                    <a:pt x="1890810" y="0"/>
                  </a:lnTo>
                  <a:cubicBezTo>
                    <a:pt x="1933500" y="0"/>
                    <a:pt x="1968108" y="34607"/>
                    <a:pt x="1968108" y="77298"/>
                  </a:cubicBezTo>
                  <a:lnTo>
                    <a:pt x="1968108" y="394076"/>
                  </a:lnTo>
                  <a:cubicBezTo>
                    <a:pt x="1968108" y="414577"/>
                    <a:pt x="1959964" y="434237"/>
                    <a:pt x="1945468" y="448734"/>
                  </a:cubicBezTo>
                  <a:cubicBezTo>
                    <a:pt x="1930971" y="463230"/>
                    <a:pt x="1911311" y="471374"/>
                    <a:pt x="1890810" y="471374"/>
                  </a:cubicBezTo>
                  <a:lnTo>
                    <a:pt x="77298" y="471374"/>
                  </a:lnTo>
                  <a:cubicBezTo>
                    <a:pt x="34607" y="471374"/>
                    <a:pt x="0" y="436766"/>
                    <a:pt x="0" y="394076"/>
                  </a:cubicBezTo>
                  <a:lnTo>
                    <a:pt x="0" y="77298"/>
                  </a:lnTo>
                  <a:cubicBezTo>
                    <a:pt x="0" y="34607"/>
                    <a:pt x="34607" y="0"/>
                    <a:pt x="77298" y="0"/>
                  </a:cubicBezTo>
                  <a:close/>
                </a:path>
              </a:pathLst>
            </a:custGeom>
            <a:solidFill>
              <a:srgbClr val="3AB85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14300"/>
              <a:ext cx="1968108" cy="5856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8260"/>
                </a:lnSpc>
              </a:pPr>
              <a:r>
                <a:rPr lang="en-US" sz="5900">
                  <a:solidFill>
                    <a:srgbClr val="FFFFFF"/>
                  </a:solidFill>
                  <a:latin typeface="DM Sans Bold"/>
                </a:rPr>
                <a:t>Consejos</a:t>
              </a:r>
              <a:endParaRPr lang="en-US" sz="5900">
                <a:solidFill>
                  <a:srgbClr val="FFFFFF"/>
                </a:solidFill>
                <a:latin typeface="DM Sans Bold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13813713" y="9396516"/>
            <a:ext cx="360020" cy="170191"/>
          </a:xfrm>
          <a:custGeom>
            <a:avLst/>
            <a:gdLst/>
            <a:ahLst/>
            <a:cxnLst/>
            <a:rect l="l" t="t" r="r" b="b"/>
            <a:pathLst>
              <a:path w="360020" h="170191">
                <a:moveTo>
                  <a:pt x="0" y="0"/>
                </a:moveTo>
                <a:lnTo>
                  <a:pt x="360020" y="0"/>
                </a:lnTo>
                <a:lnTo>
                  <a:pt x="360020" y="170191"/>
                </a:lnTo>
                <a:lnTo>
                  <a:pt x="0" y="170191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28700" y="3252906"/>
            <a:ext cx="5798032" cy="6143610"/>
          </a:xfrm>
          <a:custGeom>
            <a:avLst/>
            <a:gdLst/>
            <a:ahLst/>
            <a:cxnLst/>
            <a:rect l="l" t="t" r="r" b="b"/>
            <a:pathLst>
              <a:path w="5798032" h="6143610">
                <a:moveTo>
                  <a:pt x="0" y="0"/>
                </a:moveTo>
                <a:lnTo>
                  <a:pt x="5798032" y="0"/>
                </a:lnTo>
                <a:lnTo>
                  <a:pt x="5798032" y="6143610"/>
                </a:lnTo>
                <a:lnTo>
                  <a:pt x="0" y="61436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358196" y="1028700"/>
            <a:ext cx="2347207" cy="2121288"/>
          </a:xfrm>
          <a:custGeom>
            <a:avLst/>
            <a:gdLst/>
            <a:ahLst/>
            <a:cxnLst/>
            <a:rect l="l" t="t" r="r" b="b"/>
            <a:pathLst>
              <a:path w="2347207" h="2121288">
                <a:moveTo>
                  <a:pt x="0" y="0"/>
                </a:moveTo>
                <a:lnTo>
                  <a:pt x="2347207" y="0"/>
                </a:lnTo>
                <a:lnTo>
                  <a:pt x="2347207" y="2121288"/>
                </a:lnTo>
                <a:lnTo>
                  <a:pt x="0" y="21212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919001" y="3314492"/>
            <a:ext cx="8770979" cy="4481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0" lvl="1" indent="-34544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3200">
                <a:solidFill>
                  <a:srgbClr val="000000"/>
                </a:solidFill>
                <a:latin typeface="DM Sans Bold"/>
              </a:rPr>
              <a:t>Mantén tus Claves Seguras: </a:t>
            </a:r>
            <a:r>
              <a:rPr lang="en-US" sz="3200">
                <a:solidFill>
                  <a:srgbClr val="000000"/>
                </a:solidFill>
                <a:latin typeface="DM Sans"/>
              </a:rPr>
              <a:t>Nunca compartas tus claves API ni las incluyas directamente en el código fuente público.</a:t>
            </a:r>
            <a:endParaRPr lang="en-US" sz="3200">
              <a:solidFill>
                <a:srgbClr val="000000"/>
              </a:solidFill>
              <a:latin typeface="DM Sans"/>
            </a:endParaRPr>
          </a:p>
          <a:p>
            <a:pPr algn="l">
              <a:lnSpc>
                <a:spcPts val="4480"/>
              </a:lnSpc>
            </a:pPr>
            <a:endParaRPr lang="en-US" sz="3200">
              <a:solidFill>
                <a:srgbClr val="000000"/>
              </a:solidFill>
              <a:latin typeface="DM Sans"/>
            </a:endParaRPr>
          </a:p>
          <a:p>
            <a:pPr marL="690880" lvl="1" indent="-34544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3200">
                <a:solidFill>
                  <a:srgbClr val="000000"/>
                </a:solidFill>
                <a:latin typeface="DM Sans Bold"/>
              </a:rPr>
              <a:t>Leer la Documentación</a:t>
            </a:r>
            <a:r>
              <a:rPr lang="en-US" sz="3200">
                <a:solidFill>
                  <a:srgbClr val="000000"/>
                </a:solidFill>
                <a:latin typeface="DM Sans"/>
              </a:rPr>
              <a:t>: Cada API puede tener diferentes métodos y requisitos de autenticación.</a:t>
            </a:r>
            <a:endParaRPr lang="en-US" sz="3200">
              <a:solidFill>
                <a:srgbClr val="000000"/>
              </a:solidFill>
              <a:latin typeface="DM Sans"/>
            </a:endParaRPr>
          </a:p>
          <a:p>
            <a:pPr algn="l">
              <a:lnSpc>
                <a:spcPts val="4480"/>
              </a:lnSpc>
            </a:pPr>
            <a:endParaRPr lang="en-US" sz="3200">
              <a:solidFill>
                <a:srgbClr val="000000"/>
              </a:solidFill>
              <a:latin typeface="DM Sans"/>
            </a:endParaRPr>
          </a:p>
        </p:txBody>
      </p:sp>
    </p:spTree>
  </p:cSld>
  <p:clrMapOvr>
    <a:masterClrMapping/>
  </p:clrMapOvr>
  <p:transition>
    <p:cover dir="r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891914" y="2735747"/>
            <a:ext cx="5971569" cy="4456283"/>
          </a:xfrm>
          <a:custGeom>
            <a:avLst/>
            <a:gdLst/>
            <a:ahLst/>
            <a:cxnLst/>
            <a:rect l="l" t="t" r="r" b="b"/>
            <a:pathLst>
              <a:path w="5971569" h="4456283">
                <a:moveTo>
                  <a:pt x="0" y="0"/>
                </a:moveTo>
                <a:lnTo>
                  <a:pt x="5971569" y="0"/>
                </a:lnTo>
                <a:lnTo>
                  <a:pt x="5971569" y="4456283"/>
                </a:lnTo>
                <a:lnTo>
                  <a:pt x="0" y="4456283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</p:spTree>
  </p:cSld>
  <p:clrMapOvr>
    <a:masterClrMapping/>
  </p:clrMapOvr>
  <p:transition>
    <p:cover dir="r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3227</Words>
  <Application>WPS Presentation</Application>
  <PresentationFormat>Custom</PresentationFormat>
  <Paragraphs>127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4" baseType="lpstr">
      <vt:lpstr>Arial</vt:lpstr>
      <vt:lpstr>SimSun</vt:lpstr>
      <vt:lpstr>Wingdings</vt:lpstr>
      <vt:lpstr>DM Sans Bold</vt:lpstr>
      <vt:lpstr>DM Sans</vt:lpstr>
      <vt:lpstr>Arial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API</dc:title>
  <dc:creator/>
  <cp:lastModifiedBy>daniel-profe</cp:lastModifiedBy>
  <cp:revision>7</cp:revision>
  <dcterms:created xsi:type="dcterms:W3CDTF">2006-08-16T00:00:00Z</dcterms:created>
  <dcterms:modified xsi:type="dcterms:W3CDTF">2026-06-17T01:33:18Z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BF2B204637FC44E692264482AA819BC3_12</vt:lpwstr>
  </property>
  <property fmtid="{D5CDD505-2E9C-101B-9397-08002B2CF9AE}" pid="3" name="KSOProductBuildVer">
    <vt:lpwstr>2057-12.2.0.23202</vt:lpwstr>
  </property>
</Properties>
</file>