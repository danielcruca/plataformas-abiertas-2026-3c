
<file path=[Content_Types].xml><?xml version="1.0" encoding="utf-8"?>
<ns0:Types xmlns:ns0="http://schemas.openxmlformats.org/package/2006/content-types">
  <ns0:Default Extension="bin" ContentType="application/vnd.openxmlformats-officedocument.presentationml.printerSettings"/>
  <ns0:Default Extension="jpeg" ContentType="image/jpeg"/>
  <ns0:Default Extension="png" ContentType="image/png"/>
  <ns0:Default Extension="rels" ContentType="application/vnd.openxmlformats-package.relationships+xml"/>
  <ns0:Default Extension="xml" ContentType="application/xml"/>
  <ns0:Override PartName="/docProps/app.xml" ContentType="application/vnd.openxmlformats-officedocument.extended-properties+xml"/>
  <ns0:Override PartName="/docProps/core.xml" ContentType="application/vnd.openxmlformats-package.core-properties+xml"/>
  <ns0:Override PartName="/ppt/presProps.xml" ContentType="application/vnd.openxmlformats-officedocument.presentationml.presProps+xml"/>
  <ns0:Override PartName="/ppt/presentation.xml" ContentType="application/vnd.openxmlformats-officedocument.presentationml.presentation.main+xml"/>
  <ns0:Override PartName="/ppt/slideLayouts/slideLayout1.xml" ContentType="application/vnd.openxmlformats-officedocument.presentationml.slideLayout+xml"/>
  <ns0:Override PartName="/ppt/slideLayouts/slideLayout10.xml" ContentType="application/vnd.openxmlformats-officedocument.presentationml.slideLayout+xml"/>
  <ns0:Override PartName="/ppt/slideLayouts/slideLayout11.xml" ContentType="application/vnd.openxmlformats-officedocument.presentationml.slideLayout+xml"/>
  <ns0:Override PartName="/ppt/slideLayouts/slideLayout2.xml" ContentType="application/vnd.openxmlformats-officedocument.presentationml.slideLayout+xml"/>
  <ns0:Override PartName="/ppt/slideLayouts/slideLayout3.xml" ContentType="application/vnd.openxmlformats-officedocument.presentationml.slideLayout+xml"/>
  <ns0:Override PartName="/ppt/slideLayouts/slideLayout4.xml" ContentType="application/vnd.openxmlformats-officedocument.presentationml.slideLayout+xml"/>
  <ns0:Override PartName="/ppt/slideLayouts/slideLayout5.xml" ContentType="application/vnd.openxmlformats-officedocument.presentationml.slideLayout+xml"/>
  <ns0:Override PartName="/ppt/slideLayouts/slideLayout6.xml" ContentType="application/vnd.openxmlformats-officedocument.presentationml.slideLayout+xml"/>
  <ns0:Override PartName="/ppt/slideLayouts/slideLayout7.xml" ContentType="application/vnd.openxmlformats-officedocument.presentationml.slideLayout+xml"/>
  <ns0:Override PartName="/ppt/slideLayouts/slideLayout8.xml" ContentType="application/vnd.openxmlformats-officedocument.presentationml.slideLayout+xml"/>
  <ns0:Override PartName="/ppt/slideLayouts/slideLayout9.xml" ContentType="application/vnd.openxmlformats-officedocument.presentationml.slideLayout+xml"/>
  <ns0:Override PartName="/ppt/slideMasters/slideMaster1.xml" ContentType="application/vnd.openxmlformats-officedocument.presentationml.slideMaster+xml"/>
  <ns0:Override PartName="/ppt/slides/slide1.xml" ContentType="application/vnd.openxmlformats-officedocument.presentationml.slide+xml"/>
  <ns0:Override PartName="/ppt/slides/slide2.xml" ContentType="application/vnd.openxmlformats-officedocument.presentationml.slide+xml"/>
  <ns0:Override PartName="/ppt/slides/slide3.xml" ContentType="application/vnd.openxmlformats-officedocument.presentationml.slide+xml"/>
  <ns0:Override PartName="/ppt/slides/slide4.xml" ContentType="application/vnd.openxmlformats-officedocument.presentationml.slide+xml"/>
  <ns0:Override PartName="/ppt/slides/slide5.xml" ContentType="application/vnd.openxmlformats-officedocument.presentationml.slide+xml"/>
  <ns0:Override PartName="/ppt/tableStyles.xml" ContentType="application/vnd.openxmlformats-officedocument.presentationml.tableStyles+xml"/>
  <ns0:Override PartName="/ppt/theme/theme1.xml" ContentType="application/vnd.openxmlformats-officedocument.theme+xml"/>
  <ns0:Override PartName="/ppt/viewProps.xml" ContentType="application/vnd.openxmlformats-officedocument.presentationml.viewProps+xml"/>
  <ns0:Default Extension="fntdata" ContentType="application/x-fontdata"/>
</ns0: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 saveSubsetFonts="1" autoCompressPictures="0" embedTrueTypeFonts="1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</ns0:sldIdLst>
  <ns0:sldSz cx="12192000" cy="6858000" type="screen4x3"/>
  <ns0:notesSz cx="6858000" cy="9144000"/>
  <ns0:embeddedFontLst>
    <ns0:embeddedFont>
      <ns0:font typeface="JetBrains Mono"/>
      <ns0:bold ns1:id="rIdFont12"/>
      <ns0:regular ns1:id="rIdFont13"/>
    </ns0:embeddedFont>
    <ns0:embeddedFont>
      <ns0:font typeface="Inter"/>
      <ns0:bold ns1:id="rIdFont14"/>
      <ns0:regular ns1:id="rIdFont15"/>
    </ns0:embeddedFont>
  </ns0:embeddedFontLst>
  <ns0:defaultTextStyle>
    <ns2:defPPr>
      <ns2:defRPr lang="en-US"/>
    </ns2:defPPr>
    <ns2:lvl1pPr marL="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1pPr>
    <ns2:lvl2pPr marL="4572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2pPr>
    <ns2:lvl3pPr marL="9144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3pPr>
    <ns2:lvl4pPr marL="13716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4pPr>
    <ns2:lvl5pPr marL="18288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5pPr>
    <ns2:lvl6pPr marL="22860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6pPr>
    <ns2:lvl7pPr marL="27432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7pPr>
    <ns2:lvl8pPr marL="32004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8pPr>
    <ns2:lvl9pPr marL="36576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?>
<ns0:Relationships xmlns:ns0="http://schemas.openxmlformats.org/package/2006/relationships"><ns0:Relationship Id="rId1" Type="http://schemas.openxmlformats.org/officeDocument/2006/relationships/slideMaster" Target="slideMasters/slideMaster1.xml" /><ns0:Relationship Id="rId2" Type="http://schemas.openxmlformats.org/officeDocument/2006/relationships/printerSettings" Target="printerSettings/printerSettings1.bin" /><ns0:Relationship Id="rId3" Type="http://schemas.openxmlformats.org/officeDocument/2006/relationships/presProps" Target="presProps.xml" /><ns0:Relationship Id="rId4" Type="http://schemas.openxmlformats.org/officeDocument/2006/relationships/viewProps" Target="viewProps.xml" /><ns0:Relationship Id="rId5" Type="http://schemas.openxmlformats.org/officeDocument/2006/relationships/theme" Target="theme/theme1.xml" /><ns0:Relationship Id="rId6" Type="http://schemas.openxmlformats.org/officeDocument/2006/relationships/tableStyles" Target="tableStyles.xml" /><ns0:Relationship Id="rId7" Type="http://schemas.openxmlformats.org/officeDocument/2006/relationships/slide" Target="slides/slide1.xml" /><ns0:Relationship Id="rId8" Type="http://schemas.openxmlformats.org/officeDocument/2006/relationships/slide" Target="slides/slide2.xml" /><ns0:Relationship Id="rId9" Type="http://schemas.openxmlformats.org/officeDocument/2006/relationships/slide" Target="slides/slide3.xml" /><ns0:Relationship Id="rId10" Type="http://schemas.openxmlformats.org/officeDocument/2006/relationships/slide" Target="slides/slide4.xml" /><ns0:Relationship Id="rId11" Type="http://schemas.openxmlformats.org/officeDocument/2006/relationships/slide" Target="slides/slide5.xml" /><ns0:Relationship Id="rIdFont12" Type="http://schemas.openxmlformats.org/officeDocument/2006/relationships/font" Target="fonts/95e1e9cd-f580-4a6d-affd-b72b290ce9a3.fntdata" /><ns0:Relationship Id="rIdFont13" Type="http://schemas.openxmlformats.org/officeDocument/2006/relationships/font" Target="fonts/3d4fabef-ff68-48be-9372-17965132aa5a.fntdata" /><ns0:Relationship Id="rIdFont14" Type="http://schemas.openxmlformats.org/officeDocument/2006/relationships/font" Target="fonts/f9c8e3d4-9562-4111-9ea5-038b7770f69c.fntdata" /><ns0:Relationship Id="rIdFont15" Type="http://schemas.openxmlformats.org/officeDocument/2006/relationships/font" Target="fonts/14ba4f38-bd11-4d1f-bde6-c2bac46b14f0.fntdata" /></ns0: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09600" y="4785270"/>
            <a:ext cx="609600" cy="38100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034629"/>
            <a:ext cx="2859918" cy="190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38BDF8"/>
                </a:solidFill>
                <a:latin typeface="Inter"/>
              </a:rPr>
              <a:t>API DESIGN &amp; SEMANTICS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377529"/>
            <a:ext cx="8101012" cy="12266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830"/>
              </a:lnSpc>
            </a:pPr>
            <a:r>
              <a:rPr b="1" sz="4200" i="0" u="none">
                <a:solidFill>
                  <a:srgbClr val="FFFFFF"/>
                </a:solidFill>
                <a:latin typeface="Inter"/>
              </a:rPr>
              <a:t>Diseño e Implementación de APIs REST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3832770"/>
            <a:ext cx="61912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b="0" sz="1500" i="0" u="none">
                <a:solidFill>
                  <a:srgbClr val="94A3B8"/>
                </a:solidFill>
                <a:latin typeface="Inter"/>
              </a:rPr>
              <a:t>Guía práctica de métodos HTTP, códigos de estado y estándares de implementación CRUD.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09600" y="5791200"/>
            <a:ext cx="10972800" cy="609600"/>
          </a:xfrm>
          <a:prstGeom prst="roundRect">
            <a:avLst>
              <a:gd name="adj" fmla="val 125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09600" y="2076450"/>
            <a:ext cx="2600325" cy="2667000"/>
          </a:xfrm>
          <a:prstGeom prst="roundRect">
            <a:avLst>
              <a:gd name="adj" fmla="val 4395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400425" y="2076450"/>
            <a:ext cx="2600325" cy="2667000"/>
          </a:xfrm>
          <a:prstGeom prst="roundRect">
            <a:avLst>
              <a:gd name="adj" fmla="val 4395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191250" y="2076450"/>
            <a:ext cx="2600325" cy="2667000"/>
          </a:xfrm>
          <a:prstGeom prst="roundRect">
            <a:avLst>
              <a:gd name="adj" fmla="val 4395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982075" y="2076450"/>
            <a:ext cx="2600325" cy="2667000"/>
          </a:xfrm>
          <a:prstGeom prst="roundRect">
            <a:avLst>
              <a:gd name="adj" fmla="val 4395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2076450"/>
            <a:ext cx="2600325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38200" y="4200525"/>
            <a:ext cx="2143125" cy="314325"/>
          </a:xfrm>
          <a:prstGeom prst="roundRect">
            <a:avLst>
              <a:gd name="adj" fmla="val 18181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00425" y="2076450"/>
            <a:ext cx="2600325" cy="381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29025" y="4200525"/>
            <a:ext cx="2143125" cy="314325"/>
          </a:xfrm>
          <a:prstGeom prst="roundRect">
            <a:avLst>
              <a:gd name="adj" fmla="val 18181"/>
            </a:avLst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91250" y="2076450"/>
            <a:ext cx="2600325" cy="38100"/>
          </a:xfrm>
          <a:prstGeom prst="rect">
            <a:avLst/>
          </a:prstGeom>
          <a:solidFill>
            <a:srgbClr val="CA8A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19850" y="4200525"/>
            <a:ext cx="2143125" cy="314325"/>
          </a:xfrm>
          <a:prstGeom prst="roundRect">
            <a:avLst>
              <a:gd name="adj" fmla="val 18181"/>
            </a:avLst>
          </a:prstGeom>
          <a:solidFill>
            <a:srgbClr val="FEF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982075" y="2076450"/>
            <a:ext cx="2600325" cy="381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210675" y="4200525"/>
            <a:ext cx="2143125" cy="314325"/>
          </a:xfrm>
          <a:prstGeom prst="roundRect">
            <a:avLst>
              <a:gd name="adj" fmla="val 18181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801100" y="5943600"/>
            <a:ext cx="1009650" cy="3048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963150" y="5943600"/>
            <a:ext cx="1390650" cy="3048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8200" y="2343150"/>
            <a:ext cx="505866" cy="238125"/>
          </a:xfrm>
          <a:prstGeom prst="roundRect">
            <a:avLst>
              <a:gd name="adj" fmla="val 24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629025" y="2343150"/>
            <a:ext cx="617339" cy="238125"/>
          </a:xfrm>
          <a:prstGeom prst="roundRect">
            <a:avLst>
              <a:gd name="adj" fmla="val 24000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19850" y="2343150"/>
            <a:ext cx="515391" cy="238125"/>
          </a:xfrm>
          <a:prstGeom prst="roundRect">
            <a:avLst>
              <a:gd name="adj" fmla="val 24000"/>
            </a:avLst>
          </a:prstGeom>
          <a:solidFill>
            <a:srgbClr val="FEF9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210675" y="2343150"/>
            <a:ext cx="754409" cy="238125"/>
          </a:xfrm>
          <a:prstGeom prst="roundRect">
            <a:avLst>
              <a:gd name="adj" fmla="val 24000"/>
            </a:avLst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457200"/>
            <a:ext cx="11582400" cy="1619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2563EB"/>
                </a:solidFill>
                <a:latin typeface="Inter"/>
              </a:rPr>
              <a:t>API DESIGN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7225"/>
            <a:ext cx="11582400" cy="371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2400" i="0" u="none">
                <a:solidFill>
                  <a:srgbClr val="0F172A"/>
                </a:solidFill>
                <a:latin typeface="Inter"/>
              </a:rPr>
              <a:t>Métodos HTTP e Intención del Recurso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200" y="6005512"/>
            <a:ext cx="3357562" cy="1809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125" i="0" u="none">
                <a:solidFill>
                  <a:srgbClr val="334155"/>
                </a:solidFill>
                <a:latin typeface="Inter"/>
              </a:rPr>
              <a:t>Diseño de rutas alrededor de recursos: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2500" y="4276725"/>
            <a:ext cx="2009775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2563EB"/>
                </a:solidFill>
                <a:latin typeface="Inter"/>
              </a:rPr>
              <a:t>Safe + Idempotent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43325" y="4276725"/>
            <a:ext cx="2009775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16A34A"/>
                </a:solidFill>
                <a:latin typeface="Inter"/>
              </a:rPr>
              <a:t>Retorna 201 Created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4150" y="4276725"/>
            <a:ext cx="2009775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0F172A"/>
                </a:solidFill>
                <a:latin typeface="Inter"/>
              </a:rPr>
              <a:t>Idempotent Intent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4975" y="4276725"/>
            <a:ext cx="2009775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DC2626"/>
                </a:solidFill>
                <a:latin typeface="Inter"/>
              </a:rPr>
              <a:t>Retorna 204 No Content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15400" y="6000750"/>
            <a:ext cx="8763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050" i="0" u="none">
                <a:solidFill>
                  <a:srgbClr val="0F172A"/>
                </a:solidFill>
                <a:latin typeface="JetBrains Mono"/>
              </a:rPr>
              <a:t>/employees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77450" y="6000750"/>
            <a:ext cx="12573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050" i="0" u="none">
                <a:solidFill>
                  <a:srgbClr val="0F172A"/>
                </a:solidFill>
                <a:latin typeface="JetBrains Mono"/>
              </a:rPr>
              <a:t>/employees/{id}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2500" y="2381250"/>
            <a:ext cx="372516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1D4ED8"/>
                </a:solidFill>
                <a:latin typeface="Inter"/>
              </a:rPr>
              <a:t>GET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200" y="2733675"/>
            <a:ext cx="2812851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500" i="0" u="none">
                <a:solidFill>
                  <a:srgbClr val="0F172A"/>
                </a:solidFill>
                <a:latin typeface="Inter"/>
              </a:rPr>
              <a:t>Read resource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200" y="3038475"/>
            <a:ext cx="2678906" cy="190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200" i="0" u="none">
                <a:solidFill>
                  <a:srgbClr val="475569"/>
                </a:solidFill>
                <a:latin typeface="Inter"/>
              </a:rPr>
              <a:t>Lectura de información.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3325" y="2381250"/>
            <a:ext cx="483989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15803D"/>
                </a:solidFill>
                <a:latin typeface="Inter"/>
              </a:rPr>
              <a:t>POST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29025" y="2733675"/>
            <a:ext cx="2812851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500" i="0" u="none">
                <a:solidFill>
                  <a:srgbClr val="0F172A"/>
                </a:solidFill>
                <a:latin typeface="Inter"/>
              </a:rPr>
              <a:t>Create resource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29025" y="3038475"/>
            <a:ext cx="2238375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200" i="0" u="none">
                <a:solidFill>
                  <a:srgbClr val="475569"/>
                </a:solidFill>
                <a:latin typeface="Inter"/>
              </a:rPr>
              <a:t>Creación de nuevos registros.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34150" y="2381250"/>
            <a:ext cx="382041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A16207"/>
                </a:solidFill>
                <a:latin typeface="Inter"/>
              </a:rPr>
              <a:t>PUT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19850" y="2733675"/>
            <a:ext cx="2812851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500" i="0" u="none">
                <a:solidFill>
                  <a:srgbClr val="0F172A"/>
                </a:solidFill>
                <a:latin typeface="Inter"/>
              </a:rPr>
              <a:t>Replace / Update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19850" y="3038475"/>
            <a:ext cx="2678906" cy="190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200" i="0" u="none">
                <a:solidFill>
                  <a:srgbClr val="475569"/>
                </a:solidFill>
                <a:latin typeface="Inter"/>
              </a:rPr>
              <a:t>Reemplazo total del recurso.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24975" y="2381250"/>
            <a:ext cx="621059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B91C1C"/>
                </a:solidFill>
                <a:latin typeface="Inter"/>
              </a:rPr>
              <a:t>DELETE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10675" y="2733675"/>
            <a:ext cx="2812851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500" i="0" u="none">
                <a:solidFill>
                  <a:srgbClr val="0F172A"/>
                </a:solidFill>
                <a:latin typeface="Inter"/>
              </a:rPr>
              <a:t>Remove resource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10675" y="3038475"/>
            <a:ext cx="2678906" cy="190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200" i="0" u="none">
                <a:solidFill>
                  <a:srgbClr val="475569"/>
                </a:solidFill>
                <a:latin typeface="Inter"/>
              </a:rPr>
              <a:t>Eliminación del recurso.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09600" y="1862137"/>
            <a:ext cx="3505200" cy="1362075"/>
          </a:xfrm>
          <a:prstGeom prst="roundRect">
            <a:avLst>
              <a:gd name="adj" fmla="val 8391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343400" y="1862137"/>
            <a:ext cx="3505200" cy="1362075"/>
          </a:xfrm>
          <a:prstGeom prst="roundRect">
            <a:avLst>
              <a:gd name="adj" fmla="val 8391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077200" y="1771650"/>
            <a:ext cx="3505200" cy="1543050"/>
          </a:xfrm>
          <a:prstGeom prst="roundRect">
            <a:avLst>
              <a:gd name="adj" fmla="val 740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09600" y="4419600"/>
            <a:ext cx="3505200" cy="1543050"/>
          </a:xfrm>
          <a:prstGeom prst="roundRect">
            <a:avLst>
              <a:gd name="adj" fmla="val 740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343400" y="4510087"/>
            <a:ext cx="3505200" cy="1362075"/>
          </a:xfrm>
          <a:prstGeom prst="roundRect">
            <a:avLst>
              <a:gd name="adj" fmla="val 8391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077200" y="4510087"/>
            <a:ext cx="3505200" cy="1362075"/>
          </a:xfrm>
          <a:prstGeom prst="roundRect">
            <a:avLst>
              <a:gd name="adj" fmla="val 8391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9600" y="1862137"/>
            <a:ext cx="57150" cy="1362075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43400" y="1862137"/>
            <a:ext cx="57150" cy="1362075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77200" y="1771650"/>
            <a:ext cx="57150" cy="154305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9600" y="4419600"/>
            <a:ext cx="57150" cy="154305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4510087"/>
            <a:ext cx="57150" cy="1362075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77200" y="4510087"/>
            <a:ext cx="57150" cy="1362075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457200"/>
            <a:ext cx="11582400" cy="1619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2563EB"/>
                </a:solidFill>
                <a:latin typeface="Inter"/>
              </a:rPr>
              <a:t>HTTP SEMANTICS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657225"/>
            <a:ext cx="11582400" cy="371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2400" i="0" u="none">
                <a:solidFill>
                  <a:srgbClr val="0F172A"/>
                </a:solidFill>
                <a:latin typeface="Inter"/>
              </a:rPr>
              <a:t>Códigos de Estado para Interpretación de Máquina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350" y="2090737"/>
            <a:ext cx="3738562" cy="4095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2400" i="0" u="none">
                <a:solidFill>
                  <a:srgbClr val="15803D"/>
                </a:solidFill>
                <a:latin typeface="JetBrains Mono"/>
              </a:rPr>
              <a:t>200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5350" y="2576512"/>
            <a:ext cx="3925490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Inter"/>
              </a:rPr>
              <a:t>Request Succeeded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5350" y="2814637"/>
            <a:ext cx="3738562" cy="1809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125" i="0" u="none">
                <a:solidFill>
                  <a:srgbClr val="64748B"/>
                </a:solidFill>
                <a:latin typeface="Inter"/>
              </a:rPr>
              <a:t>Solicitud procesada con éxito.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29150" y="2090737"/>
            <a:ext cx="3738562" cy="4095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2400" i="0" u="none">
                <a:solidFill>
                  <a:srgbClr val="15803D"/>
                </a:solidFill>
                <a:latin typeface="JetBrains Mono"/>
              </a:rPr>
              <a:t>201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29150" y="2576512"/>
            <a:ext cx="3925490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Inter"/>
              </a:rPr>
              <a:t>Resource Created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29150" y="2814637"/>
            <a:ext cx="3738562" cy="1809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125" i="0" u="none">
                <a:solidFill>
                  <a:srgbClr val="64748B"/>
                </a:solidFill>
                <a:latin typeface="Inter"/>
              </a:rPr>
              <a:t>Nuevo recurso creado exitosamente.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2950" y="2000250"/>
            <a:ext cx="3738562" cy="4095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2400" i="0" u="none">
                <a:solidFill>
                  <a:srgbClr val="15803D"/>
                </a:solidFill>
                <a:latin typeface="JetBrains Mono"/>
              </a:rPr>
              <a:t>204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2950" y="2486025"/>
            <a:ext cx="3829050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Inter"/>
              </a:rPr>
              <a:t>Success, No Body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2950" y="2724150"/>
            <a:ext cx="30861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125" i="0" u="none">
                <a:solidFill>
                  <a:srgbClr val="64748B"/>
                </a:solidFill>
                <a:latin typeface="Inter"/>
              </a:rPr>
              <a:t>Éxito en la operación sin contenido de respuesta.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5350" y="4648200"/>
            <a:ext cx="3738562" cy="4095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2400" i="0" u="none">
                <a:solidFill>
                  <a:srgbClr val="B91C1C"/>
                </a:solidFill>
                <a:latin typeface="JetBrains Mono"/>
              </a:rPr>
              <a:t>400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5350" y="5133975"/>
            <a:ext cx="3925490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Inter"/>
              </a:rPr>
              <a:t>Invalid Client Input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5350" y="5372100"/>
            <a:ext cx="30861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125" i="0" u="none">
                <a:solidFill>
                  <a:srgbClr val="64748B"/>
                </a:solidFill>
                <a:latin typeface="Inter"/>
              </a:rPr>
              <a:t>Error de validación o datos de entrada incorrectos.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29150" y="4738687"/>
            <a:ext cx="3738562" cy="4095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2400" i="0" u="none">
                <a:solidFill>
                  <a:srgbClr val="B91C1C"/>
                </a:solidFill>
                <a:latin typeface="JetBrains Mono"/>
              </a:rPr>
              <a:t>404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29150" y="5224462"/>
            <a:ext cx="3925490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Inter"/>
              </a:rPr>
              <a:t>Resource Not Found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29150" y="5462587"/>
            <a:ext cx="3738562" cy="1809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125" i="0" u="none">
                <a:solidFill>
                  <a:srgbClr val="64748B"/>
                </a:solidFill>
                <a:latin typeface="Inter"/>
              </a:rPr>
              <a:t>El recurso solicitado no fue encontrado.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62950" y="4738687"/>
            <a:ext cx="3738562" cy="4095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2400" i="0" u="none">
                <a:solidFill>
                  <a:srgbClr val="B91C1C"/>
                </a:solidFill>
                <a:latin typeface="JetBrains Mono"/>
              </a:rPr>
              <a:t>500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62950" y="5224462"/>
            <a:ext cx="3829050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Inter"/>
              </a:rPr>
              <a:t>Server Failure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2950" y="5462587"/>
            <a:ext cx="3738562" cy="1809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125" i="0" u="none">
                <a:solidFill>
                  <a:srgbClr val="64748B"/>
                </a:solidFill>
                <a:latin typeface="Inter"/>
              </a:rPr>
              <a:t>Fallo no esperado en el servidor.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781800" y="1257300"/>
            <a:ext cx="4800600" cy="5143500"/>
          </a:xfrm>
          <a:prstGeom prst="roundRect">
            <a:avLst>
              <a:gd name="adj" fmla="val 3174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23900" y="1866900"/>
            <a:ext cx="617339" cy="238125"/>
          </a:xfrm>
          <a:prstGeom prst="roundRect">
            <a:avLst>
              <a:gd name="adj" fmla="val 24000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23900" y="2428875"/>
            <a:ext cx="505866" cy="238125"/>
          </a:xfrm>
          <a:prstGeom prst="roundRect">
            <a:avLst>
              <a:gd name="adj" fmla="val 24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23900" y="2990850"/>
            <a:ext cx="505866" cy="238125"/>
          </a:xfrm>
          <a:prstGeom prst="roundRect">
            <a:avLst>
              <a:gd name="adj" fmla="val 24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3900" y="3552825"/>
            <a:ext cx="515391" cy="238125"/>
          </a:xfrm>
          <a:prstGeom prst="roundRect">
            <a:avLst>
              <a:gd name="adj" fmla="val 24000"/>
            </a:avLst>
          </a:prstGeom>
          <a:solidFill>
            <a:srgbClr val="FEF9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23900" y="4114800"/>
            <a:ext cx="754409" cy="238125"/>
          </a:xfrm>
          <a:prstGeom prst="roundRect">
            <a:avLst>
              <a:gd name="adj" fmla="val 24000"/>
            </a:avLst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3190875"/>
            <a:ext cx="123825" cy="142875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3505200"/>
            <a:ext cx="123825" cy="142875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3819525"/>
            <a:ext cx="123825" cy="142875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4133850"/>
            <a:ext cx="123825" cy="142875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4448175"/>
            <a:ext cx="123825" cy="142875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4762500"/>
            <a:ext cx="123825" cy="142875"/>
          </a:xfrm>
          <a:prstGeom prst="rect">
            <a:avLst/>
          </a:prstGeom>
        </p:spPr>
      </p:pic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09600" y="1257300"/>
          <a:ext cx="5867399" cy="3305175"/>
        </p:xfrm>
        <a:graphic>
          <a:graphicData uri="http://schemas.openxmlformats.org/drawingml/2006/table">
            <a:tbl>
              <a:tblPr firstRow="0" bandRow="0">
                <a:lnL>
                  <a:noFill/>
                </a:lnL>
                <a:lnR>
                  <a:noFill/>
                </a:lnR>
                <a:lnT>
                  <a:noFill/>
                </a:lnT>
                <a:lnB>
                  <a:noFill/>
                </a:lnB>
                <a:lnV>
                  <a:noFill/>
                </a:lnV>
                <a:lnH>
                  <a:noFill/>
                </a:lnH>
              </a:tblPr>
              <a:tblGrid>
                <a:gridCol w="1479649"/>
                <a:gridCol w="2064692"/>
                <a:gridCol w="2323058"/>
              </a:tblGrid>
              <a:tr h="550862">
                <a:tc>
                  <a:txBody>
                    <a:bodyPr/>
                    <a:lstStyle/>
                    <a:p>
                      <a:pPr algn="l"/>
                      <a:r>
                        <a:rPr b="1" sz="975" i="0" u="none">
                          <a:solidFill>
                            <a:srgbClr val="64748B"/>
                          </a:solidFill>
                          <a:latin typeface="Inter"/>
                        </a:rPr>
                        <a:t>MÉTODO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75" i="0" u="none">
                          <a:solidFill>
                            <a:srgbClr val="64748B"/>
                          </a:solidFill>
                          <a:latin typeface="Inter"/>
                        </a:rPr>
                        <a:t>ENDPOINT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75" i="0" u="none">
                          <a:solidFill>
                            <a:srgbClr val="64748B"/>
                          </a:solidFill>
                          <a:latin typeface="Inter"/>
                        </a:rPr>
                        <a:t>ACCIÓN &amp; STATUS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50862"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050" i="0" u="none">
                          <a:solidFill>
                            <a:srgbClr val="1E293B"/>
                          </a:solidFill>
                          <a:latin typeface="JetBrains Mono"/>
                        </a:rPr>
                        <a:t>/employees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050" i="0" u="none">
                          <a:solidFill>
                            <a:srgbClr val="334155"/>
                          </a:solidFill>
                          <a:latin typeface="Inter"/>
                        </a:rPr>
                        <a:t>Create + 201 (JSON)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</a:tr>
              <a:tr h="550862"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050" i="0" u="none">
                          <a:solidFill>
                            <a:srgbClr val="1E293B"/>
                          </a:solidFill>
                          <a:latin typeface="JetBrains Mono"/>
                        </a:rPr>
                        <a:t>/employees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050" i="0" u="none">
                          <a:solidFill>
                            <a:srgbClr val="334155"/>
                          </a:solidFill>
                          <a:latin typeface="Inter"/>
                        </a:rPr>
                        <a:t>List + 200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</a:tr>
              <a:tr h="550862"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050" i="0" u="none">
                          <a:solidFill>
                            <a:srgbClr val="1E293B"/>
                          </a:solidFill>
                          <a:latin typeface="JetBrains Mono"/>
                        </a:rPr>
                        <a:t>/employees/{id}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050" i="0" u="none">
                          <a:solidFill>
                            <a:srgbClr val="334155"/>
                          </a:solidFill>
                          <a:latin typeface="Inter"/>
                        </a:rPr>
                        <a:t>Detail + 200 / 404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</a:tr>
              <a:tr h="550862"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050" i="0" u="none">
                          <a:solidFill>
                            <a:srgbClr val="1E293B"/>
                          </a:solidFill>
                          <a:latin typeface="JetBrains Mono"/>
                        </a:rPr>
                        <a:t>/employees/{id}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050" i="0" u="none">
                          <a:solidFill>
                            <a:srgbClr val="334155"/>
                          </a:solidFill>
                          <a:latin typeface="Inter"/>
                        </a:rPr>
                        <a:t>Validate + Update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</a:tr>
              <a:tr h="550865"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050" i="0" u="none">
                          <a:solidFill>
                            <a:srgbClr val="1E293B"/>
                          </a:solidFill>
                          <a:latin typeface="JetBrains Mono"/>
                        </a:rPr>
                        <a:t>/employees/{id}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050" i="0" u="none">
                          <a:solidFill>
                            <a:srgbClr val="334155"/>
                          </a:solidFill>
                          <a:latin typeface="Inter"/>
                        </a:rPr>
                        <a:t>Delete + 204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09600" y="457200"/>
            <a:ext cx="11582400" cy="1619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2563EB"/>
                </a:solidFill>
                <a:latin typeface="Inter"/>
              </a:rPr>
              <a:t>API IMPLEMENTATION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657225"/>
            <a:ext cx="11582400" cy="371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2400" i="0" u="none">
                <a:solidFill>
                  <a:srgbClr val="0F172A"/>
                </a:solidFill>
                <a:latin typeface="Inter"/>
              </a:rPr>
              <a:t>Implementación CRUD por Endpoint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86600" y="2733675"/>
            <a:ext cx="5105400" cy="2476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650" i="0" u="none">
                <a:solidFill>
                  <a:srgbClr val="38BDF8"/>
                </a:solidFill>
                <a:latin typeface="Inter"/>
              </a:rPr>
              <a:t>Definition of Done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05675" y="3171825"/>
            <a:ext cx="4886325" cy="1809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b="0" sz="1125" i="0" u="none">
                <a:solidFill>
                  <a:srgbClr val="F8FAFC"/>
                </a:solidFill>
                <a:latin typeface="Inter"/>
              </a:rPr>
              <a:t>Respuestas JSON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05675" y="3486150"/>
            <a:ext cx="4886325" cy="1809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b="0" sz="1125" i="0" u="none">
                <a:solidFill>
                  <a:srgbClr val="F8FAFC"/>
                </a:solidFill>
                <a:latin typeface="Inter"/>
              </a:rPr>
              <a:t>Códigos de estado correctos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05675" y="3800475"/>
            <a:ext cx="4886325" cy="1809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b="0" sz="1125" i="0" u="none">
                <a:solidFill>
                  <a:srgbClr val="F8FAFC"/>
                </a:solidFill>
                <a:latin typeface="Inter"/>
              </a:rPr>
              <a:t>Validación de datos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05675" y="4114800"/>
            <a:ext cx="4886325" cy="1809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b="0" sz="1125" i="0" u="none">
                <a:solidFill>
                  <a:srgbClr val="F8FAFC"/>
                </a:solidFill>
                <a:latin typeface="Inter"/>
              </a:rPr>
              <a:t>Manejo de Not-Found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05675" y="4429125"/>
            <a:ext cx="4886325" cy="1809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b="0" sz="1125" i="0" u="none">
                <a:solidFill>
                  <a:srgbClr val="F8FAFC"/>
                </a:solidFill>
                <a:latin typeface="Inter"/>
              </a:rPr>
              <a:t>Formato de errores consistente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05675" y="4743450"/>
            <a:ext cx="4886325" cy="1809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b="0" sz="1125" i="0" u="none">
                <a:solidFill>
                  <a:srgbClr val="F8FAFC"/>
                </a:solidFill>
                <a:latin typeface="Inter"/>
              </a:rPr>
              <a:t>Almacenamiento In-Memory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" y="1905000"/>
            <a:ext cx="483989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15803D"/>
                </a:solidFill>
                <a:latin typeface="Inter"/>
              </a:rPr>
              <a:t>POST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8200" y="2466975"/>
            <a:ext cx="372516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1D4ED8"/>
                </a:solidFill>
                <a:latin typeface="Inter"/>
              </a:rPr>
              <a:t>GET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3028950"/>
            <a:ext cx="372516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1D4ED8"/>
                </a:solidFill>
                <a:latin typeface="Inter"/>
              </a:rPr>
              <a:t>GET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8200" y="3590925"/>
            <a:ext cx="382041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A16207"/>
                </a:solidFill>
                <a:latin typeface="Inter"/>
              </a:rPr>
              <a:t>PUT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4152900"/>
            <a:ext cx="621059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B91C1C"/>
                </a:solidFill>
                <a:latin typeface="Inter"/>
              </a:rPr>
              <a:t>DELETE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951732" y="2728912"/>
            <a:ext cx="8288535" cy="5619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1" sz="3600" i="0" u="none">
                <a:solidFill>
                  <a:srgbClr val="FFFFFF"/>
                </a:solidFill>
                <a:latin typeface="Inter"/>
              </a:rPr>
              <a:t>¿Preguntas o Comentarios?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19437" y="3443287"/>
            <a:ext cx="595312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0" sz="1500" i="0" u="none">
                <a:solidFill>
                  <a:srgbClr val="94A3B8"/>
                </a:solidFill>
                <a:latin typeface="Inter"/>
              </a:rPr>
              <a:t>Asegúrate de probar tus endpoints usando herramientas como Postman antes de dar la tarea por finalizada.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