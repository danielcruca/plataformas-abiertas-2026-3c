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DM Sans Bold" charset="1" panose="00000000000000000000"/>
      <p:regular r:id="rId33"/>
    </p:embeddedFont>
    <p:embeddedFont>
      <p:font typeface="DM Sans" charset="1" panose="00000000000000000000"/>
      <p:regular r:id="rId34"/>
    </p:embeddedFont>
    <p:embeddedFont>
      <p:font typeface="Arimo" charset="1" panose="020B0604020202020204"/>
      <p:regular r:id="rId35"/>
    </p:embeddedFont>
    <p:embeddedFont>
      <p:font typeface="Arimo Bold" charset="1" panose="020B07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https://git-scm.com/download/win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github.com" TargetMode="External" Type="http://schemas.openxmlformats.org/officeDocument/2006/relationships/hyperlink"/><Relationship Id="rId4" Target="https://desktop.github.com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https://github.com/danielcruca/progra-3/tree/main" TargetMode="External" Type="http://schemas.openxmlformats.org/officeDocument/2006/relationships/hyperlink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7064" y="3105761"/>
            <a:ext cx="5229066" cy="11412644"/>
          </a:xfrm>
          <a:custGeom>
            <a:avLst/>
            <a:gdLst/>
            <a:ahLst/>
            <a:cxnLst/>
            <a:rect r="r" b="b" t="t" l="l"/>
            <a:pathLst>
              <a:path h="11412644" w="5229066">
                <a:moveTo>
                  <a:pt x="0" y="0"/>
                </a:moveTo>
                <a:lnTo>
                  <a:pt x="5229066" y="0"/>
                </a:lnTo>
                <a:lnTo>
                  <a:pt x="5229066" y="11412644"/>
                </a:lnTo>
                <a:lnTo>
                  <a:pt x="0" y="11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213" y="3302457"/>
            <a:ext cx="4716622" cy="13168235"/>
          </a:xfrm>
          <a:custGeom>
            <a:avLst/>
            <a:gdLst/>
            <a:ahLst/>
            <a:cxnLst/>
            <a:rect r="r" b="b" t="t" l="l"/>
            <a:pathLst>
              <a:path h="13168235" w="4716622">
                <a:moveTo>
                  <a:pt x="0" y="0"/>
                </a:moveTo>
                <a:lnTo>
                  <a:pt x="4716623" y="0"/>
                </a:lnTo>
                <a:lnTo>
                  <a:pt x="4716623" y="13168235"/>
                </a:lnTo>
                <a:lnTo>
                  <a:pt x="0" y="1316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20917" y="5839636"/>
            <a:ext cx="2646166" cy="2646166"/>
          </a:xfrm>
          <a:custGeom>
            <a:avLst/>
            <a:gdLst/>
            <a:ahLst/>
            <a:cxnLst/>
            <a:rect r="r" b="b" t="t" l="l"/>
            <a:pathLst>
              <a:path h="2646166" w="2646166">
                <a:moveTo>
                  <a:pt x="0" y="0"/>
                </a:moveTo>
                <a:lnTo>
                  <a:pt x="2646166" y="0"/>
                </a:lnTo>
                <a:lnTo>
                  <a:pt x="2646166" y="2646166"/>
                </a:lnTo>
                <a:lnTo>
                  <a:pt x="0" y="26461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1817" y="2108833"/>
            <a:ext cx="9336849" cy="214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5"/>
              </a:lnSpc>
            </a:pPr>
            <a:r>
              <a:rPr lang="en-US" b="true" sz="125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y 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0056" y="1845707"/>
            <a:ext cx="6727237" cy="1292581"/>
            <a:chOff x="0" y="0"/>
            <a:chExt cx="1406289" cy="27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6289" cy="270206"/>
            </a:xfrm>
            <a:custGeom>
              <a:avLst/>
              <a:gdLst/>
              <a:ahLst/>
              <a:cxnLst/>
              <a:rect r="r" b="b" t="t" l="l"/>
              <a:pathLst>
                <a:path h="270206" w="1406289">
                  <a:moveTo>
                    <a:pt x="108178" y="0"/>
                  </a:moveTo>
                  <a:lnTo>
                    <a:pt x="1298111" y="0"/>
                  </a:lnTo>
                  <a:cubicBezTo>
                    <a:pt x="1357856" y="0"/>
                    <a:pt x="1406289" y="48433"/>
                    <a:pt x="1406289" y="108178"/>
                  </a:cubicBezTo>
                  <a:lnTo>
                    <a:pt x="1406289" y="162028"/>
                  </a:lnTo>
                  <a:cubicBezTo>
                    <a:pt x="1406289" y="190719"/>
                    <a:pt x="1394892" y="218234"/>
                    <a:pt x="1374605" y="238522"/>
                  </a:cubicBezTo>
                  <a:cubicBezTo>
                    <a:pt x="1354317" y="258809"/>
                    <a:pt x="1326802" y="270206"/>
                    <a:pt x="1298111" y="270206"/>
                  </a:cubicBezTo>
                  <a:lnTo>
                    <a:pt x="108178" y="270206"/>
                  </a:lnTo>
                  <a:cubicBezTo>
                    <a:pt x="79488" y="270206"/>
                    <a:pt x="51972" y="258809"/>
                    <a:pt x="31685" y="238522"/>
                  </a:cubicBezTo>
                  <a:cubicBezTo>
                    <a:pt x="11397" y="218234"/>
                    <a:pt x="0" y="190719"/>
                    <a:pt x="0" y="162028"/>
                  </a:cubicBezTo>
                  <a:lnTo>
                    <a:pt x="0" y="108178"/>
                  </a:lnTo>
                  <a:cubicBezTo>
                    <a:pt x="0" y="79488"/>
                    <a:pt x="11397" y="51972"/>
                    <a:pt x="31685" y="31685"/>
                  </a:cubicBezTo>
                  <a:cubicBezTo>
                    <a:pt x="51972" y="11397"/>
                    <a:pt x="79488" y="0"/>
                    <a:pt x="108178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06289" cy="39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¿Qué es git?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31565" y="3474346"/>
            <a:ext cx="9671756" cy="463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Sistema de control de versiones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distribuido.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 un clon local de un proyecto. 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repositorios locales plenamente funcionales permiten trabajar sin conexión o de forma remota. 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desarrolladores trabajan localmente y luego sincronizan la copia del repositorio con la del servidor.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0056" y="1845707"/>
            <a:ext cx="6727237" cy="1292581"/>
            <a:chOff x="0" y="0"/>
            <a:chExt cx="1406289" cy="27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6289" cy="270206"/>
            </a:xfrm>
            <a:custGeom>
              <a:avLst/>
              <a:gdLst/>
              <a:ahLst/>
              <a:cxnLst/>
              <a:rect r="r" b="b" t="t" l="l"/>
              <a:pathLst>
                <a:path h="270206" w="1406289">
                  <a:moveTo>
                    <a:pt x="108178" y="0"/>
                  </a:moveTo>
                  <a:lnTo>
                    <a:pt x="1298111" y="0"/>
                  </a:lnTo>
                  <a:cubicBezTo>
                    <a:pt x="1357856" y="0"/>
                    <a:pt x="1406289" y="48433"/>
                    <a:pt x="1406289" y="108178"/>
                  </a:cubicBezTo>
                  <a:lnTo>
                    <a:pt x="1406289" y="162028"/>
                  </a:lnTo>
                  <a:cubicBezTo>
                    <a:pt x="1406289" y="190719"/>
                    <a:pt x="1394892" y="218234"/>
                    <a:pt x="1374605" y="238522"/>
                  </a:cubicBezTo>
                  <a:cubicBezTo>
                    <a:pt x="1354317" y="258809"/>
                    <a:pt x="1326802" y="270206"/>
                    <a:pt x="1298111" y="270206"/>
                  </a:cubicBezTo>
                  <a:lnTo>
                    <a:pt x="108178" y="270206"/>
                  </a:lnTo>
                  <a:cubicBezTo>
                    <a:pt x="79488" y="270206"/>
                    <a:pt x="51972" y="258809"/>
                    <a:pt x="31685" y="238522"/>
                  </a:cubicBezTo>
                  <a:cubicBezTo>
                    <a:pt x="11397" y="218234"/>
                    <a:pt x="0" y="190719"/>
                    <a:pt x="0" y="162028"/>
                  </a:cubicBezTo>
                  <a:lnTo>
                    <a:pt x="0" y="108178"/>
                  </a:lnTo>
                  <a:cubicBezTo>
                    <a:pt x="0" y="79488"/>
                    <a:pt x="11397" y="51972"/>
                    <a:pt x="31685" y="31685"/>
                  </a:cubicBezTo>
                  <a:cubicBezTo>
                    <a:pt x="51972" y="11397"/>
                    <a:pt x="79488" y="0"/>
                    <a:pt x="108178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06289" cy="39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¿Qué es GitHub?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54098" y="3474346"/>
            <a:ext cx="8339152" cy="637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Plataforma en la nube.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Utiliza Git.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Sistema de control de versiones distribuido. 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Simplifica la colaboración en proyectos. 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Ofrece un sitio web, herramientas de línea de comandos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Flujo de trabajo global para que desarrolladores y usuarios trabajen juntos de manera eficiente.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0056" y="1845707"/>
            <a:ext cx="6727237" cy="1292581"/>
            <a:chOff x="0" y="0"/>
            <a:chExt cx="1406289" cy="27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6289" cy="270206"/>
            </a:xfrm>
            <a:custGeom>
              <a:avLst/>
              <a:gdLst/>
              <a:ahLst/>
              <a:cxnLst/>
              <a:rect r="r" b="b" t="t" l="l"/>
              <a:pathLst>
                <a:path h="270206" w="1406289">
                  <a:moveTo>
                    <a:pt x="108178" y="0"/>
                  </a:moveTo>
                  <a:lnTo>
                    <a:pt x="1298111" y="0"/>
                  </a:lnTo>
                  <a:cubicBezTo>
                    <a:pt x="1357856" y="0"/>
                    <a:pt x="1406289" y="48433"/>
                    <a:pt x="1406289" y="108178"/>
                  </a:cubicBezTo>
                  <a:lnTo>
                    <a:pt x="1406289" y="162028"/>
                  </a:lnTo>
                  <a:cubicBezTo>
                    <a:pt x="1406289" y="190719"/>
                    <a:pt x="1394892" y="218234"/>
                    <a:pt x="1374605" y="238522"/>
                  </a:cubicBezTo>
                  <a:cubicBezTo>
                    <a:pt x="1354317" y="258809"/>
                    <a:pt x="1326802" y="270206"/>
                    <a:pt x="1298111" y="270206"/>
                  </a:cubicBezTo>
                  <a:lnTo>
                    <a:pt x="108178" y="270206"/>
                  </a:lnTo>
                  <a:cubicBezTo>
                    <a:pt x="79488" y="270206"/>
                    <a:pt x="51972" y="258809"/>
                    <a:pt x="31685" y="238522"/>
                  </a:cubicBezTo>
                  <a:cubicBezTo>
                    <a:pt x="11397" y="218234"/>
                    <a:pt x="0" y="190719"/>
                    <a:pt x="0" y="162028"/>
                  </a:cubicBezTo>
                  <a:lnTo>
                    <a:pt x="0" y="108178"/>
                  </a:lnTo>
                  <a:cubicBezTo>
                    <a:pt x="0" y="79488"/>
                    <a:pt x="11397" y="51972"/>
                    <a:pt x="31685" y="31685"/>
                  </a:cubicBezTo>
                  <a:cubicBezTo>
                    <a:pt x="51972" y="11397"/>
                    <a:pt x="79488" y="0"/>
                    <a:pt x="108178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06289" cy="39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Alternativas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14752" y="3480593"/>
            <a:ext cx="8794652" cy="4672159"/>
          </a:xfrm>
          <a:custGeom>
            <a:avLst/>
            <a:gdLst/>
            <a:ahLst/>
            <a:cxnLst/>
            <a:rect r="r" b="b" t="t" l="l"/>
            <a:pathLst>
              <a:path h="4672159" w="8794652">
                <a:moveTo>
                  <a:pt x="0" y="0"/>
                </a:moveTo>
                <a:lnTo>
                  <a:pt x="8794652" y="0"/>
                </a:lnTo>
                <a:lnTo>
                  <a:pt x="8794652" y="4672159"/>
                </a:lnTo>
                <a:lnTo>
                  <a:pt x="0" y="4672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1869" y="1028700"/>
            <a:ext cx="8364263" cy="1794434"/>
            <a:chOff x="0" y="0"/>
            <a:chExt cx="1748500" cy="375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8500" cy="375116"/>
            </a:xfrm>
            <a:custGeom>
              <a:avLst/>
              <a:gdLst/>
              <a:ahLst/>
              <a:cxnLst/>
              <a:rect r="r" b="b" t="t" l="l"/>
              <a:pathLst>
                <a:path h="375116" w="1748500">
                  <a:moveTo>
                    <a:pt x="87006" y="0"/>
                  </a:moveTo>
                  <a:lnTo>
                    <a:pt x="1661494" y="0"/>
                  </a:lnTo>
                  <a:cubicBezTo>
                    <a:pt x="1684569" y="0"/>
                    <a:pt x="1706700" y="9167"/>
                    <a:pt x="1723016" y="25483"/>
                  </a:cubicBezTo>
                  <a:cubicBezTo>
                    <a:pt x="1739333" y="41800"/>
                    <a:pt x="1748500" y="63931"/>
                    <a:pt x="1748500" y="87006"/>
                  </a:cubicBezTo>
                  <a:lnTo>
                    <a:pt x="1748500" y="288110"/>
                  </a:lnTo>
                  <a:cubicBezTo>
                    <a:pt x="1748500" y="311185"/>
                    <a:pt x="1739333" y="333316"/>
                    <a:pt x="1723016" y="349632"/>
                  </a:cubicBezTo>
                  <a:cubicBezTo>
                    <a:pt x="1706700" y="365949"/>
                    <a:pt x="1684569" y="375116"/>
                    <a:pt x="1661494" y="375116"/>
                  </a:cubicBezTo>
                  <a:lnTo>
                    <a:pt x="87006" y="375116"/>
                  </a:lnTo>
                  <a:cubicBezTo>
                    <a:pt x="63931" y="375116"/>
                    <a:pt x="41800" y="365949"/>
                    <a:pt x="25483" y="349632"/>
                  </a:cubicBezTo>
                  <a:cubicBezTo>
                    <a:pt x="9167" y="333316"/>
                    <a:pt x="0" y="311185"/>
                    <a:pt x="0" y="288110"/>
                  </a:cubicBezTo>
                  <a:lnTo>
                    <a:pt x="0" y="87006"/>
                  </a:lnTo>
                  <a:cubicBezTo>
                    <a:pt x="0" y="63931"/>
                    <a:pt x="9167" y="41800"/>
                    <a:pt x="25483" y="25483"/>
                  </a:cubicBezTo>
                  <a:cubicBezTo>
                    <a:pt x="41800" y="9167"/>
                    <a:pt x="63931" y="0"/>
                    <a:pt x="87006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48500" cy="460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580"/>
                </a:lnSpc>
              </a:pPr>
              <a:r>
                <a:rPr lang="en-US" b="true" sz="47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Breve historia de sistemas de versionamiento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92134" y="3954926"/>
            <a:ext cx="11301259" cy="5452857"/>
          </a:xfrm>
          <a:custGeom>
            <a:avLst/>
            <a:gdLst/>
            <a:ahLst/>
            <a:cxnLst/>
            <a:rect r="r" b="b" t="t" l="l"/>
            <a:pathLst>
              <a:path h="5452857" w="11301259">
                <a:moveTo>
                  <a:pt x="0" y="0"/>
                </a:moveTo>
                <a:lnTo>
                  <a:pt x="11301259" y="0"/>
                </a:lnTo>
                <a:lnTo>
                  <a:pt x="11301259" y="5452857"/>
                </a:lnTo>
                <a:lnTo>
                  <a:pt x="0" y="5452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0056" y="1845707"/>
            <a:ext cx="6727237" cy="1292581"/>
            <a:chOff x="0" y="0"/>
            <a:chExt cx="1406289" cy="27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6289" cy="270206"/>
            </a:xfrm>
            <a:custGeom>
              <a:avLst/>
              <a:gdLst/>
              <a:ahLst/>
              <a:cxnLst/>
              <a:rect r="r" b="b" t="t" l="l"/>
              <a:pathLst>
                <a:path h="270206" w="1406289">
                  <a:moveTo>
                    <a:pt x="108178" y="0"/>
                  </a:moveTo>
                  <a:lnTo>
                    <a:pt x="1298111" y="0"/>
                  </a:lnTo>
                  <a:cubicBezTo>
                    <a:pt x="1357856" y="0"/>
                    <a:pt x="1406289" y="48433"/>
                    <a:pt x="1406289" y="108178"/>
                  </a:cubicBezTo>
                  <a:lnTo>
                    <a:pt x="1406289" y="162028"/>
                  </a:lnTo>
                  <a:cubicBezTo>
                    <a:pt x="1406289" y="190719"/>
                    <a:pt x="1394892" y="218234"/>
                    <a:pt x="1374605" y="238522"/>
                  </a:cubicBezTo>
                  <a:cubicBezTo>
                    <a:pt x="1354317" y="258809"/>
                    <a:pt x="1326802" y="270206"/>
                    <a:pt x="1298111" y="270206"/>
                  </a:cubicBezTo>
                  <a:lnTo>
                    <a:pt x="108178" y="270206"/>
                  </a:lnTo>
                  <a:cubicBezTo>
                    <a:pt x="79488" y="270206"/>
                    <a:pt x="51972" y="258809"/>
                    <a:pt x="31685" y="238522"/>
                  </a:cubicBezTo>
                  <a:cubicBezTo>
                    <a:pt x="11397" y="218234"/>
                    <a:pt x="0" y="190719"/>
                    <a:pt x="0" y="162028"/>
                  </a:cubicBezTo>
                  <a:lnTo>
                    <a:pt x="0" y="108178"/>
                  </a:lnTo>
                  <a:cubicBezTo>
                    <a:pt x="0" y="79488"/>
                    <a:pt x="11397" y="51972"/>
                    <a:pt x="31685" y="31685"/>
                  </a:cubicBezTo>
                  <a:cubicBezTo>
                    <a:pt x="51972" y="11397"/>
                    <a:pt x="79488" y="0"/>
                    <a:pt x="108178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06289" cy="39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Historia de Git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981269"/>
            <a:ext cx="3959658" cy="5893444"/>
          </a:xfrm>
          <a:custGeom>
            <a:avLst/>
            <a:gdLst/>
            <a:ahLst/>
            <a:cxnLst/>
            <a:rect r="r" b="b" t="t" l="l"/>
            <a:pathLst>
              <a:path h="5893444" w="3959658">
                <a:moveTo>
                  <a:pt x="0" y="0"/>
                </a:moveTo>
                <a:lnTo>
                  <a:pt x="3959658" y="0"/>
                </a:lnTo>
                <a:lnTo>
                  <a:pt x="3959658" y="5893444"/>
                </a:lnTo>
                <a:lnTo>
                  <a:pt x="0" y="5893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77137" y="4927991"/>
            <a:ext cx="5120602" cy="5120602"/>
          </a:xfrm>
          <a:custGeom>
            <a:avLst/>
            <a:gdLst/>
            <a:ahLst/>
            <a:cxnLst/>
            <a:rect r="r" b="b" t="t" l="l"/>
            <a:pathLst>
              <a:path h="5120602" w="5120602">
                <a:moveTo>
                  <a:pt x="0" y="0"/>
                </a:moveTo>
                <a:lnTo>
                  <a:pt x="5120602" y="0"/>
                </a:lnTo>
                <a:lnTo>
                  <a:pt x="5120602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54098" y="3474346"/>
            <a:ext cx="8505202" cy="53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9007" indent="-364504" lvl="1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Creado por</a:t>
            </a:r>
            <a:r>
              <a:rPr lang="en-US" b="true" sz="337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Linus Torvalds </a:t>
            </a:r>
            <a:r>
              <a:rPr lang="en-US" sz="33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2005.</a:t>
            </a:r>
          </a:p>
          <a:p>
            <a:pPr algn="l" marL="729007" indent="-364504" lvl="1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Surgió de la necesidad de gestionar el desarrollo del kernel de Linux.</a:t>
            </a:r>
          </a:p>
          <a:p>
            <a:pPr algn="l">
              <a:lnSpc>
                <a:spcPts val="4727"/>
              </a:lnSpc>
            </a:pPr>
          </a:p>
          <a:p>
            <a:pPr algn="l" marL="729007" indent="-364504" lvl="1">
              <a:lnSpc>
                <a:spcPts val="4727"/>
              </a:lnSpc>
              <a:buFont typeface="Arial"/>
              <a:buChar char="•"/>
            </a:pPr>
            <a:r>
              <a:rPr lang="en-US" sz="33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Antes de Git, se gestionaba con el sistema de control de versiones </a:t>
            </a:r>
            <a:r>
              <a:rPr lang="en-US" b="true" sz="337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BitKeeper</a:t>
            </a:r>
            <a:r>
              <a:rPr lang="en-US" sz="33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cuando se retiró su versión gratuita, Torvalds decidió crear su propia herramienta.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23278" y="1536933"/>
            <a:ext cx="8966843" cy="1678960"/>
            <a:chOff x="0" y="0"/>
            <a:chExt cx="1874466" cy="3509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4466" cy="350977"/>
            </a:xfrm>
            <a:custGeom>
              <a:avLst/>
              <a:gdLst/>
              <a:ahLst/>
              <a:cxnLst/>
              <a:rect r="r" b="b" t="t" l="l"/>
              <a:pathLst>
                <a:path h="350977" w="1874466">
                  <a:moveTo>
                    <a:pt x="81159" y="0"/>
                  </a:moveTo>
                  <a:lnTo>
                    <a:pt x="1793307" y="0"/>
                  </a:lnTo>
                  <a:cubicBezTo>
                    <a:pt x="1838129" y="0"/>
                    <a:pt x="1874466" y="36336"/>
                    <a:pt x="1874466" y="81159"/>
                  </a:cubicBezTo>
                  <a:lnTo>
                    <a:pt x="1874466" y="269818"/>
                  </a:lnTo>
                  <a:cubicBezTo>
                    <a:pt x="1874466" y="291342"/>
                    <a:pt x="1865915" y="311985"/>
                    <a:pt x="1850695" y="327206"/>
                  </a:cubicBezTo>
                  <a:cubicBezTo>
                    <a:pt x="1835474" y="342426"/>
                    <a:pt x="1814831" y="350977"/>
                    <a:pt x="1793307" y="350977"/>
                  </a:cubicBezTo>
                  <a:lnTo>
                    <a:pt x="81159" y="350977"/>
                  </a:lnTo>
                  <a:cubicBezTo>
                    <a:pt x="36336" y="350977"/>
                    <a:pt x="0" y="314641"/>
                    <a:pt x="0" y="269818"/>
                  </a:cubicBezTo>
                  <a:lnTo>
                    <a:pt x="0" y="81159"/>
                  </a:lnTo>
                  <a:cubicBezTo>
                    <a:pt x="0" y="59634"/>
                    <a:pt x="8551" y="38991"/>
                    <a:pt x="23771" y="23771"/>
                  </a:cubicBezTo>
                  <a:cubicBezTo>
                    <a:pt x="38991" y="8551"/>
                    <a:pt x="59634" y="0"/>
                    <a:pt x="81159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74466" cy="474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Instalacion de git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3735" y="3800938"/>
            <a:ext cx="5378597" cy="2245564"/>
          </a:xfrm>
          <a:custGeom>
            <a:avLst/>
            <a:gdLst/>
            <a:ahLst/>
            <a:cxnLst/>
            <a:rect r="r" b="b" t="t" l="l"/>
            <a:pathLst>
              <a:path h="2245564" w="5378597">
                <a:moveTo>
                  <a:pt x="0" y="0"/>
                </a:moveTo>
                <a:lnTo>
                  <a:pt x="5378597" y="0"/>
                </a:lnTo>
                <a:lnTo>
                  <a:pt x="5378597" y="2245565"/>
                </a:lnTo>
                <a:lnTo>
                  <a:pt x="0" y="2245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95891" y="6412165"/>
            <a:ext cx="523791" cy="523137"/>
          </a:xfrm>
          <a:custGeom>
            <a:avLst/>
            <a:gdLst/>
            <a:ahLst/>
            <a:cxnLst/>
            <a:rect r="r" b="b" t="t" l="l"/>
            <a:pathLst>
              <a:path h="523137" w="523791">
                <a:moveTo>
                  <a:pt x="0" y="0"/>
                </a:moveTo>
                <a:lnTo>
                  <a:pt x="523792" y="0"/>
                </a:lnTo>
                <a:lnTo>
                  <a:pt x="523792" y="523137"/>
                </a:lnTo>
                <a:lnTo>
                  <a:pt x="0" y="523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95891" y="4162767"/>
            <a:ext cx="8603754" cy="32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Descargar acá:</a:t>
            </a:r>
          </a:p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git-scm.com/download/win"/>
              </a:rPr>
              <a:t>https://git-scm.com/download/win</a:t>
            </a:r>
          </a:p>
          <a:p>
            <a:pPr algn="l">
              <a:lnSpc>
                <a:spcPts val="6439"/>
              </a:lnSpc>
            </a:pPr>
          </a:p>
          <a:p>
            <a:pPr algn="l">
              <a:lnSpc>
                <a:spcPts val="64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10947" y="6345490"/>
            <a:ext cx="4699766" cy="203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0"/>
              </a:lnSpc>
            </a:pPr>
            <a:r>
              <a:rPr lang="en-US" sz="29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Verificar si git esta instalado:</a:t>
            </a:r>
          </a:p>
          <a:p>
            <a:pPr algn="l" marL="627739" indent="-313869" lvl="1">
              <a:lnSpc>
                <a:spcPts val="4070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Abrir consola.</a:t>
            </a:r>
          </a:p>
          <a:p>
            <a:pPr algn="l" marL="627739" indent="-313869" lvl="1">
              <a:lnSpc>
                <a:spcPts val="4070"/>
              </a:lnSpc>
              <a:buFont typeface="Arial"/>
              <a:buChar char="•"/>
            </a:pPr>
            <a:r>
              <a:rPr lang="en-US" sz="29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Ejecutar </a:t>
            </a:r>
            <a:r>
              <a:rPr lang="en-US" b="true" sz="290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git -v</a:t>
            </a:r>
            <a:r>
              <a:rPr lang="en-US" sz="29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407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39428" y="1829456"/>
            <a:ext cx="10250692" cy="2133533"/>
            <a:chOff x="0" y="0"/>
            <a:chExt cx="2142847" cy="446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2847" cy="446002"/>
            </a:xfrm>
            <a:custGeom>
              <a:avLst/>
              <a:gdLst/>
              <a:ahLst/>
              <a:cxnLst/>
              <a:rect r="r" b="b" t="t" l="l"/>
              <a:pathLst>
                <a:path h="446002" w="2142847">
                  <a:moveTo>
                    <a:pt x="70994" y="0"/>
                  </a:moveTo>
                  <a:lnTo>
                    <a:pt x="2071852" y="0"/>
                  </a:lnTo>
                  <a:cubicBezTo>
                    <a:pt x="2111061" y="0"/>
                    <a:pt x="2142847" y="31785"/>
                    <a:pt x="2142847" y="70994"/>
                  </a:cubicBezTo>
                  <a:lnTo>
                    <a:pt x="2142847" y="375008"/>
                  </a:lnTo>
                  <a:cubicBezTo>
                    <a:pt x="2142847" y="414217"/>
                    <a:pt x="2111061" y="446002"/>
                    <a:pt x="2071852" y="446002"/>
                  </a:cubicBezTo>
                  <a:lnTo>
                    <a:pt x="70994" y="446002"/>
                  </a:lnTo>
                  <a:cubicBezTo>
                    <a:pt x="31785" y="446002"/>
                    <a:pt x="0" y="414217"/>
                    <a:pt x="0" y="375008"/>
                  </a:cubicBezTo>
                  <a:lnTo>
                    <a:pt x="0" y="70994"/>
                  </a:lnTo>
                  <a:cubicBezTo>
                    <a:pt x="0" y="31785"/>
                    <a:pt x="31785" y="0"/>
                    <a:pt x="70994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2847" cy="56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Preparación para github.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8720" y="3962989"/>
            <a:ext cx="5651985" cy="2095002"/>
          </a:xfrm>
          <a:custGeom>
            <a:avLst/>
            <a:gdLst/>
            <a:ahLst/>
            <a:cxnLst/>
            <a:rect r="r" b="b" t="t" l="l"/>
            <a:pathLst>
              <a:path h="2095002" w="5651985">
                <a:moveTo>
                  <a:pt x="0" y="0"/>
                </a:moveTo>
                <a:lnTo>
                  <a:pt x="5651984" y="0"/>
                </a:lnTo>
                <a:lnTo>
                  <a:pt x="5651984" y="2095002"/>
                </a:lnTo>
                <a:lnTo>
                  <a:pt x="0" y="20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47816" y="4709442"/>
            <a:ext cx="8339152" cy="230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Crear cuenta </a:t>
            </a:r>
            <a:r>
              <a:rPr lang="en-US" sz="3310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3" tooltip="https://github.com"/>
              </a:rPr>
              <a:t>acá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  <a:p>
            <a:pPr algn="l">
              <a:lnSpc>
                <a:spcPts val="4634"/>
              </a:lnSpc>
            </a:pPr>
          </a:p>
          <a:p>
            <a:pPr algn="l">
              <a:lnSpc>
                <a:spcPts val="4634"/>
              </a:lnSpc>
            </a:pPr>
            <a:r>
              <a:rPr lang="en-US" sz="331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Adicional:</a:t>
            </a:r>
          </a:p>
          <a:p>
            <a:pPr algn="l" marL="714774" indent="-357387" lvl="1">
              <a:lnSpc>
                <a:spcPts val="4634"/>
              </a:lnSpc>
              <a:buFont typeface="Arial"/>
              <a:buChar char="•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Descargar </a:t>
            </a:r>
            <a:r>
              <a:rPr lang="en-US" sz="3310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4" tooltip="https://desktop.github.com"/>
              </a:rPr>
              <a:t>Github desktop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39428" y="1829456"/>
            <a:ext cx="10250692" cy="2426056"/>
            <a:chOff x="0" y="0"/>
            <a:chExt cx="2142847" cy="507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2847" cy="507153"/>
            </a:xfrm>
            <a:custGeom>
              <a:avLst/>
              <a:gdLst/>
              <a:ahLst/>
              <a:cxnLst/>
              <a:rect r="r" b="b" t="t" l="l"/>
              <a:pathLst>
                <a:path h="507153" w="2142847">
                  <a:moveTo>
                    <a:pt x="70994" y="0"/>
                  </a:moveTo>
                  <a:lnTo>
                    <a:pt x="2071852" y="0"/>
                  </a:lnTo>
                  <a:cubicBezTo>
                    <a:pt x="2111061" y="0"/>
                    <a:pt x="2142847" y="31785"/>
                    <a:pt x="2142847" y="70994"/>
                  </a:cubicBezTo>
                  <a:lnTo>
                    <a:pt x="2142847" y="436158"/>
                  </a:lnTo>
                  <a:cubicBezTo>
                    <a:pt x="2142847" y="475367"/>
                    <a:pt x="2111061" y="507153"/>
                    <a:pt x="2071852" y="507153"/>
                  </a:cubicBezTo>
                  <a:lnTo>
                    <a:pt x="70994" y="507153"/>
                  </a:lnTo>
                  <a:cubicBezTo>
                    <a:pt x="31785" y="507153"/>
                    <a:pt x="0" y="475367"/>
                    <a:pt x="0" y="436158"/>
                  </a:cubicBezTo>
                  <a:lnTo>
                    <a:pt x="0" y="70994"/>
                  </a:lnTo>
                  <a:cubicBezTo>
                    <a:pt x="0" y="31785"/>
                    <a:pt x="31785" y="0"/>
                    <a:pt x="70994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2847" cy="63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Diferencia entre git y github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7453" y="2501786"/>
            <a:ext cx="5651985" cy="2095002"/>
          </a:xfrm>
          <a:custGeom>
            <a:avLst/>
            <a:gdLst/>
            <a:ahLst/>
            <a:cxnLst/>
            <a:rect r="r" b="b" t="t" l="l"/>
            <a:pathLst>
              <a:path h="2095002" w="5651985">
                <a:moveTo>
                  <a:pt x="0" y="0"/>
                </a:moveTo>
                <a:lnTo>
                  <a:pt x="5651985" y="0"/>
                </a:lnTo>
                <a:lnTo>
                  <a:pt x="5651985" y="2095002"/>
                </a:lnTo>
                <a:lnTo>
                  <a:pt x="0" y="20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80686" y="4194348"/>
            <a:ext cx="1898303" cy="1898303"/>
          </a:xfrm>
          <a:custGeom>
            <a:avLst/>
            <a:gdLst/>
            <a:ahLst/>
            <a:cxnLst/>
            <a:rect r="r" b="b" t="t" l="l"/>
            <a:pathLst>
              <a:path h="1898303" w="1898303">
                <a:moveTo>
                  <a:pt x="0" y="0"/>
                </a:moveTo>
                <a:lnTo>
                  <a:pt x="1898304" y="0"/>
                </a:lnTo>
                <a:lnTo>
                  <a:pt x="1898304" y="1898304"/>
                </a:lnTo>
                <a:lnTo>
                  <a:pt x="0" y="189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39985" y="6327253"/>
            <a:ext cx="1979706" cy="1979706"/>
          </a:xfrm>
          <a:custGeom>
            <a:avLst/>
            <a:gdLst/>
            <a:ahLst/>
            <a:cxnLst/>
            <a:rect r="r" b="b" t="t" l="l"/>
            <a:pathLst>
              <a:path h="1979706" w="1979706">
                <a:moveTo>
                  <a:pt x="0" y="0"/>
                </a:moveTo>
                <a:lnTo>
                  <a:pt x="1979706" y="0"/>
                </a:lnTo>
                <a:lnTo>
                  <a:pt x="1979706" y="1979706"/>
                </a:lnTo>
                <a:lnTo>
                  <a:pt x="0" y="1979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66866" y="4709442"/>
            <a:ext cx="8339152" cy="404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Git es el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sistema de control de versiones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que permite gestionar el historial de cambios y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trabajar con archivos localmente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GitHub 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una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plataforma en la nube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que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utiliza Git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para alojar proyectos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7064" y="3105761"/>
            <a:ext cx="5229066" cy="11412644"/>
          </a:xfrm>
          <a:custGeom>
            <a:avLst/>
            <a:gdLst/>
            <a:ahLst/>
            <a:cxnLst/>
            <a:rect r="r" b="b" t="t" l="l"/>
            <a:pathLst>
              <a:path h="11412644" w="5229066">
                <a:moveTo>
                  <a:pt x="0" y="0"/>
                </a:moveTo>
                <a:lnTo>
                  <a:pt x="5229066" y="0"/>
                </a:lnTo>
                <a:lnTo>
                  <a:pt x="5229066" y="11412644"/>
                </a:lnTo>
                <a:lnTo>
                  <a:pt x="0" y="11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213" y="3302457"/>
            <a:ext cx="4716622" cy="13168235"/>
          </a:xfrm>
          <a:custGeom>
            <a:avLst/>
            <a:gdLst/>
            <a:ahLst/>
            <a:cxnLst/>
            <a:rect r="r" b="b" t="t" l="l"/>
            <a:pathLst>
              <a:path h="13168235" w="4716622">
                <a:moveTo>
                  <a:pt x="0" y="0"/>
                </a:moveTo>
                <a:lnTo>
                  <a:pt x="4716623" y="0"/>
                </a:lnTo>
                <a:lnTo>
                  <a:pt x="4716623" y="13168235"/>
                </a:lnTo>
                <a:lnTo>
                  <a:pt x="0" y="1316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61090" y="4716558"/>
            <a:ext cx="6143288" cy="4095525"/>
          </a:xfrm>
          <a:custGeom>
            <a:avLst/>
            <a:gdLst/>
            <a:ahLst/>
            <a:cxnLst/>
            <a:rect r="r" b="b" t="t" l="l"/>
            <a:pathLst>
              <a:path h="4095525" w="6143288">
                <a:moveTo>
                  <a:pt x="0" y="0"/>
                </a:moveTo>
                <a:lnTo>
                  <a:pt x="6143288" y="0"/>
                </a:lnTo>
                <a:lnTo>
                  <a:pt x="6143288" y="4095525"/>
                </a:lnTo>
                <a:lnTo>
                  <a:pt x="0" y="4095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5148" y="790575"/>
            <a:ext cx="13275171" cy="214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5"/>
              </a:lnSpc>
            </a:pPr>
            <a:r>
              <a:rPr lang="en-US" b="true" sz="125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 de git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¿Qué es un repositorio?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54098" y="3474346"/>
            <a:ext cx="8339152" cy="404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Contiene todos los archivos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un proyecto y el historial de revisiones de cada uno de ellos. </a:t>
            </a: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Usados para administrar el trabajo, realizar seguimiento de cambios,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almacenar el historial de revisiones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trabajar con otras personas. 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Crear un repositorio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61589" y="5179953"/>
            <a:ext cx="4124171" cy="4078347"/>
          </a:xfrm>
          <a:custGeom>
            <a:avLst/>
            <a:gdLst/>
            <a:ahLst/>
            <a:cxnLst/>
            <a:rect r="r" b="b" t="t" l="l"/>
            <a:pathLst>
              <a:path h="4078347" w="4124171">
                <a:moveTo>
                  <a:pt x="0" y="0"/>
                </a:moveTo>
                <a:lnTo>
                  <a:pt x="4124171" y="0"/>
                </a:lnTo>
                <a:lnTo>
                  <a:pt x="4124171" y="4078347"/>
                </a:lnTo>
                <a:lnTo>
                  <a:pt x="0" y="4078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54098" y="3474346"/>
            <a:ext cx="8339152" cy="114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Teniendo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ya creada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 cuenta de github seguir lo siguiente: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Crear un repositorio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47816" y="3267573"/>
            <a:ext cx="8426448" cy="2646769"/>
          </a:xfrm>
          <a:custGeom>
            <a:avLst/>
            <a:gdLst/>
            <a:ahLst/>
            <a:cxnLst/>
            <a:rect r="r" b="b" t="t" l="l"/>
            <a:pathLst>
              <a:path h="2646769" w="8426448">
                <a:moveTo>
                  <a:pt x="0" y="0"/>
                </a:moveTo>
                <a:lnTo>
                  <a:pt x="8426449" y="0"/>
                </a:lnTo>
                <a:lnTo>
                  <a:pt x="8426449" y="2646769"/>
                </a:lnTo>
                <a:lnTo>
                  <a:pt x="0" y="2646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54098" y="6706633"/>
            <a:ext cx="8263163" cy="2136416"/>
          </a:xfrm>
          <a:custGeom>
            <a:avLst/>
            <a:gdLst/>
            <a:ahLst/>
            <a:cxnLst/>
            <a:rect r="r" b="b" t="t" l="l"/>
            <a:pathLst>
              <a:path h="2136416" w="8263163">
                <a:moveTo>
                  <a:pt x="0" y="0"/>
                </a:moveTo>
                <a:lnTo>
                  <a:pt x="8263163" y="0"/>
                </a:lnTo>
                <a:lnTo>
                  <a:pt x="8263163" y="2136416"/>
                </a:lnTo>
                <a:lnTo>
                  <a:pt x="0" y="21364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2791" y="66404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Crear un repositorio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765412" y="1727479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92934" y="2705355"/>
            <a:ext cx="9098252" cy="7023212"/>
          </a:xfrm>
          <a:custGeom>
            <a:avLst/>
            <a:gdLst/>
            <a:ahLst/>
            <a:cxnLst/>
            <a:rect r="r" b="b" t="t" l="l"/>
            <a:pathLst>
              <a:path h="7023212" w="9098252">
                <a:moveTo>
                  <a:pt x="0" y="0"/>
                </a:moveTo>
                <a:lnTo>
                  <a:pt x="9098253" y="0"/>
                </a:lnTo>
                <a:lnTo>
                  <a:pt x="9098253" y="7023212"/>
                </a:lnTo>
                <a:lnTo>
                  <a:pt x="0" y="7023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2791" y="66404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Ir al repositorio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755887" y="1737004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21526" y="3606048"/>
            <a:ext cx="9016538" cy="4556229"/>
          </a:xfrm>
          <a:custGeom>
            <a:avLst/>
            <a:gdLst/>
            <a:ahLst/>
            <a:cxnLst/>
            <a:rect r="r" b="b" t="t" l="l"/>
            <a:pathLst>
              <a:path h="4556229" w="9016538">
                <a:moveTo>
                  <a:pt x="0" y="0"/>
                </a:moveTo>
                <a:lnTo>
                  <a:pt x="9016538" y="0"/>
                </a:lnTo>
                <a:lnTo>
                  <a:pt x="9016538" y="4556229"/>
                </a:lnTo>
                <a:lnTo>
                  <a:pt x="0" y="45562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2791" y="664044"/>
            <a:ext cx="8856152" cy="2287524"/>
            <a:chOff x="0" y="0"/>
            <a:chExt cx="1851326" cy="478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478193"/>
            </a:xfrm>
            <a:custGeom>
              <a:avLst/>
              <a:gdLst/>
              <a:ahLst/>
              <a:cxnLst/>
              <a:rect r="r" b="b" t="t" l="l"/>
              <a:pathLst>
                <a:path h="478193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396020"/>
                  </a:lnTo>
                  <a:cubicBezTo>
                    <a:pt x="1851326" y="441403"/>
                    <a:pt x="1814536" y="478193"/>
                    <a:pt x="1769153" y="478193"/>
                  </a:cubicBezTo>
                  <a:lnTo>
                    <a:pt x="82173" y="478193"/>
                  </a:lnTo>
                  <a:cubicBezTo>
                    <a:pt x="60380" y="478193"/>
                    <a:pt x="39479" y="469536"/>
                    <a:pt x="24068" y="454125"/>
                  </a:cubicBezTo>
                  <a:cubicBezTo>
                    <a:pt x="8658" y="438715"/>
                    <a:pt x="0" y="417814"/>
                    <a:pt x="0" y="396020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602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Abrir con github Desktop y clonar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755887" y="1737004"/>
            <a:ext cx="8577427" cy="6425273"/>
          </a:xfrm>
          <a:custGeom>
            <a:avLst/>
            <a:gdLst/>
            <a:ahLst/>
            <a:cxnLst/>
            <a:rect r="r" b="b" t="t" l="l"/>
            <a:pathLst>
              <a:path h="6425273" w="8577427">
                <a:moveTo>
                  <a:pt x="8577428" y="0"/>
                </a:moveTo>
                <a:lnTo>
                  <a:pt x="0" y="0"/>
                </a:lnTo>
                <a:lnTo>
                  <a:pt x="0" y="6425273"/>
                </a:lnTo>
                <a:lnTo>
                  <a:pt x="8577428" y="6425273"/>
                </a:lnTo>
                <a:lnTo>
                  <a:pt x="85774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77532" y="3554639"/>
            <a:ext cx="8863550" cy="6093691"/>
          </a:xfrm>
          <a:custGeom>
            <a:avLst/>
            <a:gdLst/>
            <a:ahLst/>
            <a:cxnLst/>
            <a:rect r="r" b="b" t="t" l="l"/>
            <a:pathLst>
              <a:path h="6093691" w="8863550">
                <a:moveTo>
                  <a:pt x="0" y="0"/>
                </a:moveTo>
                <a:lnTo>
                  <a:pt x="8863551" y="0"/>
                </a:lnTo>
                <a:lnTo>
                  <a:pt x="8863551" y="6093691"/>
                </a:lnTo>
                <a:lnTo>
                  <a:pt x="0" y="6093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¿Qué es clonar?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354521"/>
            <a:ext cx="7323393" cy="3577957"/>
          </a:xfrm>
          <a:custGeom>
            <a:avLst/>
            <a:gdLst/>
            <a:ahLst/>
            <a:cxnLst/>
            <a:rect r="r" b="b" t="t" l="l"/>
            <a:pathLst>
              <a:path h="3577957" w="7323393">
                <a:moveTo>
                  <a:pt x="0" y="0"/>
                </a:moveTo>
                <a:lnTo>
                  <a:pt x="7323393" y="0"/>
                </a:lnTo>
                <a:lnTo>
                  <a:pt x="7323393" y="3577958"/>
                </a:lnTo>
                <a:lnTo>
                  <a:pt x="0" y="3577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54098" y="3474346"/>
            <a:ext cx="8339152" cy="172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</a:p>
          <a:p>
            <a:pPr algn="l" marL="714774" indent="-357387" lvl="1">
              <a:lnSpc>
                <a:spcPts val="4634"/>
              </a:lnSpc>
              <a:buAutoNum type="arabicPeriod" startAt="1"/>
            </a:pP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ignifica </a:t>
            </a:r>
            <a:r>
              <a:rPr lang="en-US" b="true" sz="331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copiar </a:t>
            </a:r>
            <a:r>
              <a:rPr lang="en-US" sz="33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repositorio de GitHub a tu computadora local.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7064" y="3105761"/>
            <a:ext cx="5229066" cy="11412644"/>
          </a:xfrm>
          <a:custGeom>
            <a:avLst/>
            <a:gdLst/>
            <a:ahLst/>
            <a:cxnLst/>
            <a:rect r="r" b="b" t="t" l="l"/>
            <a:pathLst>
              <a:path h="11412644" w="5229066">
                <a:moveTo>
                  <a:pt x="0" y="0"/>
                </a:moveTo>
                <a:lnTo>
                  <a:pt x="5229066" y="0"/>
                </a:lnTo>
                <a:lnTo>
                  <a:pt x="5229066" y="11412644"/>
                </a:lnTo>
                <a:lnTo>
                  <a:pt x="0" y="11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213" y="3302457"/>
            <a:ext cx="4716622" cy="13168235"/>
          </a:xfrm>
          <a:custGeom>
            <a:avLst/>
            <a:gdLst/>
            <a:ahLst/>
            <a:cxnLst/>
            <a:rect r="r" b="b" t="t" l="l"/>
            <a:pathLst>
              <a:path h="13168235" w="4716622">
                <a:moveTo>
                  <a:pt x="0" y="0"/>
                </a:moveTo>
                <a:lnTo>
                  <a:pt x="4716623" y="0"/>
                </a:lnTo>
                <a:lnTo>
                  <a:pt x="4716623" y="13168235"/>
                </a:lnTo>
                <a:lnTo>
                  <a:pt x="0" y="1316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6620" y="5143500"/>
            <a:ext cx="3494760" cy="3494760"/>
          </a:xfrm>
          <a:custGeom>
            <a:avLst/>
            <a:gdLst/>
            <a:ahLst/>
            <a:cxnLst/>
            <a:rect r="r" b="b" t="t" l="l"/>
            <a:pathLst>
              <a:path h="3494760" w="3494760">
                <a:moveTo>
                  <a:pt x="0" y="0"/>
                </a:moveTo>
                <a:lnTo>
                  <a:pt x="3494760" y="0"/>
                </a:lnTo>
                <a:lnTo>
                  <a:pt x="3494760" y="3494760"/>
                </a:lnTo>
                <a:lnTo>
                  <a:pt x="0" y="3494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94964" y="1310615"/>
            <a:ext cx="13108042" cy="214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5"/>
              </a:lnSpc>
            </a:pPr>
            <a:r>
              <a:rPr lang="en-US" b="true" sz="125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Comandos de git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Comandos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3350" y="2895084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41987" y="3054108"/>
            <a:ext cx="6215183" cy="7346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init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Inicializa un repositorio en un directorio nuevo o existente.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clone &lt;URL&gt;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Clona un repositorio remoto de GitHub u otro servidor Git a tu máquina local.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add &lt;archivo(s)&gt;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Agrega archivos al área de preparación para ser incluidos en el próximo commit.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commit -m "mensaje"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Realiza un commit con los archivos que están en el área de preparación, incluyendo un mensaje descriptivo.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status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Muestra el estado actual del repositorio, incluyendo los cambios sin preparar y los archivos listos para commit.</a:t>
            </a:r>
          </a:p>
          <a:p>
            <a:pPr algn="l">
              <a:lnSpc>
                <a:spcPts val="3454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Comandos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3350" y="2895084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79780" y="2956600"/>
            <a:ext cx="6215183" cy="611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branch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Lista todas las ramas del repositorio y muestra en cuál estás trabajando actualmente.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checkout 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&lt;nombre_rama&gt;: Cambia de rama para empezar a trabajar en ella.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pull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Obtiene y fusiona los cambios desde un repositorio remoto a tu repositorio local.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git push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Envía tus commits locales al repositorio remoto en GitHub u otro servidor Git.</a:t>
            </a:r>
          </a:p>
          <a:p>
            <a:pPr algn="l">
              <a:lnSpc>
                <a:spcPts val="3454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6637" y="1596674"/>
            <a:ext cx="8115300" cy="2426056"/>
            <a:chOff x="0" y="0"/>
            <a:chExt cx="1696456" cy="507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6456" cy="507153"/>
            </a:xfrm>
            <a:custGeom>
              <a:avLst/>
              <a:gdLst/>
              <a:ahLst/>
              <a:cxnLst/>
              <a:rect r="r" b="b" t="t" l="l"/>
              <a:pathLst>
                <a:path h="507153" w="1696456">
                  <a:moveTo>
                    <a:pt x="89675" y="0"/>
                  </a:moveTo>
                  <a:lnTo>
                    <a:pt x="1606781" y="0"/>
                  </a:lnTo>
                  <a:cubicBezTo>
                    <a:pt x="1630564" y="0"/>
                    <a:pt x="1653373" y="9448"/>
                    <a:pt x="1670190" y="26265"/>
                  </a:cubicBezTo>
                  <a:cubicBezTo>
                    <a:pt x="1687008" y="43083"/>
                    <a:pt x="1696456" y="65892"/>
                    <a:pt x="1696456" y="89675"/>
                  </a:cubicBezTo>
                  <a:lnTo>
                    <a:pt x="1696456" y="417478"/>
                  </a:lnTo>
                  <a:cubicBezTo>
                    <a:pt x="1696456" y="441261"/>
                    <a:pt x="1687008" y="464070"/>
                    <a:pt x="1670190" y="480887"/>
                  </a:cubicBezTo>
                  <a:cubicBezTo>
                    <a:pt x="1653373" y="497705"/>
                    <a:pt x="1630564" y="507153"/>
                    <a:pt x="1606781" y="507153"/>
                  </a:cubicBezTo>
                  <a:lnTo>
                    <a:pt x="89675" y="507153"/>
                  </a:lnTo>
                  <a:cubicBezTo>
                    <a:pt x="65892" y="507153"/>
                    <a:pt x="43083" y="497705"/>
                    <a:pt x="26265" y="480887"/>
                  </a:cubicBezTo>
                  <a:cubicBezTo>
                    <a:pt x="9448" y="464070"/>
                    <a:pt x="0" y="441261"/>
                    <a:pt x="0" y="417478"/>
                  </a:cubicBezTo>
                  <a:lnTo>
                    <a:pt x="0" y="89675"/>
                  </a:lnTo>
                  <a:cubicBezTo>
                    <a:pt x="0" y="65892"/>
                    <a:pt x="9448" y="43083"/>
                    <a:pt x="26265" y="26265"/>
                  </a:cubicBezTo>
                  <a:cubicBezTo>
                    <a:pt x="43083" y="9448"/>
                    <a:pt x="65892" y="0"/>
                    <a:pt x="89675" y="0"/>
                  </a:cubicBezTo>
                  <a:close/>
                </a:path>
              </a:pathLst>
            </a:custGeom>
            <a:solidFill>
              <a:srgbClr val="F459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696456" cy="630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b="true" sz="63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Clonar repositorio del curso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48251" y="1596674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80498"/>
            <a:ext cx="611027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Clonar </a:t>
            </a:r>
            <a:r>
              <a:rPr lang="en-US" sz="3200" u="sng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  <a:hlinkClick r:id="rId3" tooltip="https://github.com/danielcruca/progra-3/tree/main"/>
              </a:rPr>
              <a:t>repositorio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 curso.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7064" y="3105761"/>
            <a:ext cx="5229066" cy="11412644"/>
          </a:xfrm>
          <a:custGeom>
            <a:avLst/>
            <a:gdLst/>
            <a:ahLst/>
            <a:cxnLst/>
            <a:rect r="r" b="b" t="t" l="l"/>
            <a:pathLst>
              <a:path h="11412644" w="5229066">
                <a:moveTo>
                  <a:pt x="0" y="0"/>
                </a:moveTo>
                <a:lnTo>
                  <a:pt x="5229066" y="0"/>
                </a:lnTo>
                <a:lnTo>
                  <a:pt x="5229066" y="11412644"/>
                </a:lnTo>
                <a:lnTo>
                  <a:pt x="0" y="11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213" y="3302457"/>
            <a:ext cx="4716622" cy="13168235"/>
          </a:xfrm>
          <a:custGeom>
            <a:avLst/>
            <a:gdLst/>
            <a:ahLst/>
            <a:cxnLst/>
            <a:rect r="r" b="b" t="t" l="l"/>
            <a:pathLst>
              <a:path h="13168235" w="4716622">
                <a:moveTo>
                  <a:pt x="0" y="0"/>
                </a:moveTo>
                <a:lnTo>
                  <a:pt x="4716623" y="0"/>
                </a:lnTo>
                <a:lnTo>
                  <a:pt x="4716623" y="13168235"/>
                </a:lnTo>
                <a:lnTo>
                  <a:pt x="0" y="1316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6620" y="5143500"/>
            <a:ext cx="3494760" cy="3494760"/>
          </a:xfrm>
          <a:custGeom>
            <a:avLst/>
            <a:gdLst/>
            <a:ahLst/>
            <a:cxnLst/>
            <a:rect r="r" b="b" t="t" l="l"/>
            <a:pathLst>
              <a:path h="3494760" w="3494760">
                <a:moveTo>
                  <a:pt x="0" y="0"/>
                </a:moveTo>
                <a:lnTo>
                  <a:pt x="3494760" y="0"/>
                </a:lnTo>
                <a:lnTo>
                  <a:pt x="3494760" y="3494760"/>
                </a:lnTo>
                <a:lnTo>
                  <a:pt x="0" y="3494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08694" y="1310615"/>
            <a:ext cx="12480581" cy="214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5"/>
              </a:lnSpc>
            </a:pPr>
            <a:r>
              <a:rPr lang="en-US" b="true" sz="125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Crear un branch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Branch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6228" y="1581641"/>
            <a:ext cx="4547981" cy="3244433"/>
          </a:xfrm>
          <a:custGeom>
            <a:avLst/>
            <a:gdLst/>
            <a:ahLst/>
            <a:cxnLst/>
            <a:rect r="r" b="b" t="t" l="l"/>
            <a:pathLst>
              <a:path h="3244433" w="4547981">
                <a:moveTo>
                  <a:pt x="0" y="0"/>
                </a:moveTo>
                <a:lnTo>
                  <a:pt x="4547980" y="0"/>
                </a:lnTo>
                <a:lnTo>
                  <a:pt x="4547980" y="3244434"/>
                </a:lnTo>
                <a:lnTo>
                  <a:pt x="0" y="3244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74428" y="5570452"/>
            <a:ext cx="3356625" cy="3356625"/>
          </a:xfrm>
          <a:custGeom>
            <a:avLst/>
            <a:gdLst/>
            <a:ahLst/>
            <a:cxnLst/>
            <a:rect r="r" b="b" t="t" l="l"/>
            <a:pathLst>
              <a:path h="3356625" w="3356625">
                <a:moveTo>
                  <a:pt x="0" y="0"/>
                </a:moveTo>
                <a:lnTo>
                  <a:pt x="3356625" y="0"/>
                </a:lnTo>
                <a:lnTo>
                  <a:pt x="3356625" y="3356624"/>
                </a:lnTo>
                <a:lnTo>
                  <a:pt x="0" y="3356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60730" y="2956600"/>
            <a:ext cx="6215183" cy="305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una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copia paralela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un repositorio.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Permite a los colaboradores trabajar 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independiente 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sin afectar la rama principal del proyecto.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 rama principalmente (normalmente llamada "main" o "master")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Branch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2593" y="1251053"/>
            <a:ext cx="7151395" cy="4019084"/>
          </a:xfrm>
          <a:custGeom>
            <a:avLst/>
            <a:gdLst/>
            <a:ahLst/>
            <a:cxnLst/>
            <a:rect r="r" b="b" t="t" l="l"/>
            <a:pathLst>
              <a:path h="4019084" w="7151395">
                <a:moveTo>
                  <a:pt x="0" y="0"/>
                </a:moveTo>
                <a:lnTo>
                  <a:pt x="7151395" y="0"/>
                </a:lnTo>
                <a:lnTo>
                  <a:pt x="7151395" y="4019084"/>
                </a:lnTo>
                <a:lnTo>
                  <a:pt x="0" y="401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16918" y="5562371"/>
            <a:ext cx="5218587" cy="4084656"/>
          </a:xfrm>
          <a:custGeom>
            <a:avLst/>
            <a:gdLst/>
            <a:ahLst/>
            <a:cxnLst/>
            <a:rect r="r" b="b" t="t" l="l"/>
            <a:pathLst>
              <a:path h="4084656" w="5218587">
                <a:moveTo>
                  <a:pt x="0" y="0"/>
                </a:moveTo>
                <a:lnTo>
                  <a:pt x="5218587" y="0"/>
                </a:lnTo>
                <a:lnTo>
                  <a:pt x="5218587" y="4084656"/>
                </a:lnTo>
                <a:lnTo>
                  <a:pt x="0" y="4084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41229" y="3781480"/>
            <a:ext cx="3651213" cy="5476820"/>
          </a:xfrm>
          <a:custGeom>
            <a:avLst/>
            <a:gdLst/>
            <a:ahLst/>
            <a:cxnLst/>
            <a:rect r="r" b="b" t="t" l="l"/>
            <a:pathLst>
              <a:path h="5476820" w="3651213">
                <a:moveTo>
                  <a:pt x="0" y="0"/>
                </a:moveTo>
                <a:lnTo>
                  <a:pt x="3651213" y="0"/>
                </a:lnTo>
                <a:lnTo>
                  <a:pt x="3651213" y="5476820"/>
                </a:lnTo>
                <a:lnTo>
                  <a:pt x="0" y="5476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17064" y="3105761"/>
            <a:ext cx="5229066" cy="11412644"/>
          </a:xfrm>
          <a:custGeom>
            <a:avLst/>
            <a:gdLst/>
            <a:ahLst/>
            <a:cxnLst/>
            <a:rect r="r" b="b" t="t" l="l"/>
            <a:pathLst>
              <a:path h="11412644" w="5229066">
                <a:moveTo>
                  <a:pt x="0" y="0"/>
                </a:moveTo>
                <a:lnTo>
                  <a:pt x="5229066" y="0"/>
                </a:lnTo>
                <a:lnTo>
                  <a:pt x="5229066" y="11412644"/>
                </a:lnTo>
                <a:lnTo>
                  <a:pt x="0" y="11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213" y="3302457"/>
            <a:ext cx="4716622" cy="13168235"/>
          </a:xfrm>
          <a:custGeom>
            <a:avLst/>
            <a:gdLst/>
            <a:ahLst/>
            <a:cxnLst/>
            <a:rect r="r" b="b" t="t" l="l"/>
            <a:pathLst>
              <a:path h="13168235" w="4716622">
                <a:moveTo>
                  <a:pt x="0" y="0"/>
                </a:moveTo>
                <a:lnTo>
                  <a:pt x="4716623" y="0"/>
                </a:lnTo>
                <a:lnTo>
                  <a:pt x="4716623" y="13168235"/>
                </a:lnTo>
                <a:lnTo>
                  <a:pt x="0" y="1316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55416" y="1310615"/>
            <a:ext cx="9187138" cy="214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5"/>
              </a:lnSpc>
            </a:pPr>
            <a:r>
              <a:rPr lang="en-US" b="true" sz="125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Pull request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54098" y="1184084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Pull request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85872" y="1184084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3" y="0"/>
                </a:lnTo>
                <a:lnTo>
                  <a:pt x="5778063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14469" y="4159193"/>
            <a:ext cx="6215183" cy="349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 a los colaboradores 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proponer cambios 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un repositorio. </a:t>
            </a:r>
          </a:p>
          <a:p>
            <a:pPr algn="l" marL="532722" indent="-266361" lvl="1">
              <a:lnSpc>
                <a:spcPts val="3454"/>
              </a:lnSpc>
              <a:buAutoNum type="arabicPeriod" startAt="1"/>
            </a:pP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alguien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quiere contribuir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al proyecto,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crea una copia de la rama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principal, 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hace sus cambios 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 luego </a:t>
            </a:r>
            <a:r>
              <a:rPr lang="en-US" b="true" sz="246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solicita que esos cambios se fusionen de nuevo</a:t>
            </a:r>
            <a:r>
              <a:rPr lang="en-US" sz="2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 la rama principal a través de un PR.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2560" y="1028700"/>
            <a:ext cx="8856152" cy="1711000"/>
            <a:chOff x="0" y="0"/>
            <a:chExt cx="1851326" cy="3576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1326" cy="357675"/>
            </a:xfrm>
            <a:custGeom>
              <a:avLst/>
              <a:gdLst/>
              <a:ahLst/>
              <a:cxnLst/>
              <a:rect r="r" b="b" t="t" l="l"/>
              <a:pathLst>
                <a:path h="357675" w="1851326">
                  <a:moveTo>
                    <a:pt x="82173" y="0"/>
                  </a:moveTo>
                  <a:lnTo>
                    <a:pt x="1769153" y="0"/>
                  </a:lnTo>
                  <a:cubicBezTo>
                    <a:pt x="1790947" y="0"/>
                    <a:pt x="1811848" y="8658"/>
                    <a:pt x="1827258" y="24068"/>
                  </a:cubicBezTo>
                  <a:cubicBezTo>
                    <a:pt x="1842669" y="39479"/>
                    <a:pt x="1851326" y="60380"/>
                    <a:pt x="1851326" y="82173"/>
                  </a:cubicBezTo>
                  <a:lnTo>
                    <a:pt x="1851326" y="275501"/>
                  </a:lnTo>
                  <a:cubicBezTo>
                    <a:pt x="1851326" y="320884"/>
                    <a:pt x="1814536" y="357675"/>
                    <a:pt x="1769153" y="357675"/>
                  </a:cubicBezTo>
                  <a:lnTo>
                    <a:pt x="82173" y="357675"/>
                  </a:lnTo>
                  <a:cubicBezTo>
                    <a:pt x="60380" y="357675"/>
                    <a:pt x="39479" y="349017"/>
                    <a:pt x="24068" y="333606"/>
                  </a:cubicBezTo>
                  <a:cubicBezTo>
                    <a:pt x="8658" y="318196"/>
                    <a:pt x="0" y="297295"/>
                    <a:pt x="0" y="275501"/>
                  </a:cubicBezTo>
                  <a:lnTo>
                    <a:pt x="0" y="82173"/>
                  </a:lnTo>
                  <a:cubicBezTo>
                    <a:pt x="0" y="36790"/>
                    <a:pt x="36790" y="0"/>
                    <a:pt x="82173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51326" cy="481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400"/>
                </a:lnSpc>
              </a:pPr>
              <a:r>
                <a:rPr lang="en-US" b="true" sz="60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Ejemplo de PR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92560" y="3435164"/>
            <a:ext cx="11459860" cy="6088281"/>
          </a:xfrm>
          <a:custGeom>
            <a:avLst/>
            <a:gdLst/>
            <a:ahLst/>
            <a:cxnLst/>
            <a:rect r="r" b="b" t="t" l="l"/>
            <a:pathLst>
              <a:path h="6088281" w="11459860">
                <a:moveTo>
                  <a:pt x="0" y="0"/>
                </a:moveTo>
                <a:lnTo>
                  <a:pt x="11459860" y="0"/>
                </a:lnTo>
                <a:lnTo>
                  <a:pt x="11459860" y="6088282"/>
                </a:lnTo>
                <a:lnTo>
                  <a:pt x="0" y="6088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DAGFDmAdbA8</dc:identifier>
  <dcterms:modified xsi:type="dcterms:W3CDTF">2011-08-01T06:04:30Z</dcterms:modified>
  <cp:revision>1</cp:revision>
  <dc:title>Texto del párrafo</dc:title>
</cp:coreProperties>
</file>